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7" r:id="rId3"/>
    <p:sldId id="257" r:id="rId4"/>
    <p:sldId id="261" r:id="rId5"/>
    <p:sldId id="258" r:id="rId6"/>
    <p:sldId id="276" r:id="rId7"/>
    <p:sldId id="259" r:id="rId8"/>
    <p:sldId id="260" r:id="rId9"/>
    <p:sldId id="263" r:id="rId10"/>
    <p:sldId id="264" r:id="rId11"/>
    <p:sldId id="265" r:id="rId12"/>
    <p:sldId id="26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63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ythix4/ml-security-monitor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498080" y="-182880"/>
            <a:ext cx="2194560" cy="219456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475488"/>
            <a:ext cx="24688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Meetup Paris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3268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r>
              <a:rPr lang="en-US" sz="4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· Secure · Master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drift types (Data · Concept · Pipeline) · security · AI Act compliance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2423160" cy="566928"/>
          </a:xfrm>
          <a:prstGeom prst="rect">
            <a:avLst/>
          </a:prstGeom>
          <a:solidFill>
            <a:srgbClr val="D62828">
              <a:alpha val="20000"/>
            </a:srgbClr>
          </a:solidFill>
          <a:ln w="12700">
            <a:solidFill>
              <a:srgbClr val="D6282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30540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2552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Concept · Pipeline drift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3035808"/>
            <a:ext cx="2423160" cy="566928"/>
          </a:xfrm>
          <a:prstGeom prst="rect">
            <a:avLst/>
          </a:prstGeom>
          <a:solidFill>
            <a:srgbClr val="F77F00">
              <a:alpha val="20000"/>
            </a:srgbClr>
          </a:solidFill>
          <a:ln w="12700">
            <a:solidFill>
              <a:srgbClr val="F77F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29000" y="30540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2552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3035808"/>
            <a:ext cx="2423160" cy="566928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72200" y="30540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2552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· VictoriaMetrics · Grafana · Phoenix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5029200" cy="18288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38221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</a:t>
            </a:r>
            <a:r>
              <a:rPr lang="en-US" sz="13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300" dirty="0" err="1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169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709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12, 2026 • Station F</a:t>
            </a:r>
            <a:endParaRPr lang="en-US" sz="1000" dirty="0"/>
          </a:p>
        </p:txBody>
      </p:sp>
      <p:sp>
        <p:nvSpPr>
          <p:cNvPr id="72" name="gf_inner"/>
          <p:cNvSpPr>
            <a:spLocks noGrp="1"/>
          </p:cNvSpPr>
          <p:nvPr/>
        </p:nvSpPr>
        <p:spPr>
          <a:xfrm>
            <a:off x="6520000" y="4560000"/>
            <a:ext cx="160000" cy="1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3" name="gf_text"/>
          <p:cNvSpPr/>
          <p:nvPr/>
        </p:nvSpPr>
        <p:spPr>
          <a:xfrm>
            <a:off x="6950000" y="4450000"/>
            <a:ext cx="15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5A28"/>
                </a:solidFill>
                <a:latin typeface="Calibri" pitchFamily="34" charset="0"/>
              </a:rPr>
              <a:t>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Erythix (FR) – </a:t>
            </a:r>
            <a:r>
              <a:rPr lang="en-US" sz="13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Skophia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0" y="228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000000"/>
                </a:solidFill>
              </a:rPr>
              <a:t>🇫🇷 🇧🇪 🇩🇪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64008" cy="9601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systems don't surface is where incidents are born.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2542032"/>
            <a:ext cx="26517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1200" b="1" kern="0" spc="100" dirty="0" err="1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qu’on</a:t>
            </a:r>
            <a:r>
              <a:rPr lang="en-US" sz="1200" b="1" kern="0" spc="1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IT/OT/AI Observability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signal to decision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· Manufacturing · Defense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54680" y="2542032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154680" y="2542032"/>
            <a:ext cx="265176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9184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44952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91840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open-source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9184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knowledge transfer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2542032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989320" y="2542032"/>
            <a:ext cx="2651760" cy="5486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044952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26480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· Arize AI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2648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FOSDEM · OSMC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2648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in critical infrastructure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· Master · Decide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"/>
            <a:ext cx="1371600" cy="237744"/>
          </a:xfrm>
          <a:prstGeom prst="rect">
            <a:avLst/>
          </a:prstGeom>
          <a:solidFill>
            <a:srgbClr val="D62828">
              <a:alpha val="85000"/>
            </a:srgbClr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9 AM Monday morning. Your Grafana is green.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62179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412480" cy="196596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D62828">
              <a:alpha val="90000"/>
            </a:srgbClr>
          </a:solidFill>
          <a:ln w="12700">
            <a:solidFill>
              <a:srgbClr val="D6282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at 30% • RAM stable • Network latency &lt; 5ms • HTTP error rate: 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6642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99.98% • Grafana green everywhere • No alerts for 48h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299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HR chatbot says paternity leave is 2 days (the law changed </a:t>
            </a:r>
            <a:r>
              <a:rPr lang="en-US" sz="1200" b="1" dirty="0" err="1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</a:t>
            </a: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months ago)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sales assistant hallucinates the price of a product you removed from the catalog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1A2E35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 is healthy. </a:t>
            </a:r>
            <a:r>
              <a:rPr lang="en-US" sz="1300" b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AI, however,</a:t>
            </a:r>
            <a:r>
              <a:rPr lang="en-US" sz="13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AI, however, </a:t>
            </a: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wrong on thousands of responses. You didn't know.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Because classic tools monitor infrastructure, not the meaning of what your model says.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answers one question: how to go from “Grafana green” to “reliable, secure, and compliant AI”?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 in 5 Layers – Each Layer is an Attack Surface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The 5 Layers of Generative AI • OWASP LLM Top 10 Threats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8229600" cy="717804"/>
          </a:xfrm>
          <a:prstGeom prst="rect">
            <a:avLst/>
          </a:prstGeom>
          <a:solidFill>
            <a:srgbClr val="00A896">
              <a:alpha val="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420624" cy="7178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841248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886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161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and uses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97480" y="914400"/>
            <a:ext cx="18288" cy="580644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88920" y="896112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Copilot · Claude · Gemini · Internal business apps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88920" y="1243584"/>
            <a:ext cx="5600000" cy="18288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88920" y="1289304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(Eval) · Content policy violations · Response length anomaly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1604772"/>
            <a:ext cx="8229600" cy="717804"/>
          </a:xfrm>
          <a:prstGeom prst="rect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604772"/>
            <a:ext cx="420624" cy="7178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0040" y="1604772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" y="16504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19248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glue between models and apps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1677924"/>
            <a:ext cx="18288" cy="58064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88920" y="1659636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LlamaIndex · OpenAI API · Semantic Kernel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88920" y="2007108"/>
            <a:ext cx="5600000" cy="1828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88920" y="2052828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traces: span injection · Abnormal RAG retrieval score · Token spike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2368296"/>
            <a:ext cx="8229600" cy="717804"/>
          </a:xfrm>
          <a:prstGeom prst="rect">
            <a:avLst/>
          </a:prstGeom>
          <a:solidFill>
            <a:srgbClr val="5B2D8E">
              <a:alpha val="8000"/>
            </a:srgbClr>
          </a:solidFill>
          <a:ln w="12700">
            <a:solidFill>
              <a:srgbClr val="5B2D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2368296"/>
            <a:ext cx="420624" cy="71780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20040" y="2368296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04672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brain: it predicts, it doesn't understand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7480" y="2441448"/>
            <a:ext cx="18288" cy="580644"/>
          </a:xfrm>
          <a:prstGeom prst="rect">
            <a:avLst/>
          </a:prstGeom>
          <a:solidFill>
            <a:srgbClr val="5B2D8E">
              <a:alpha val="40000"/>
            </a:srgbClr>
          </a:solidFill>
          <a:ln w="12700">
            <a:solidFill>
              <a:srgbClr val="5B2D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788920" y="2423160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Llama 3 · Mistral · Phi-3 · Mixtral · Stable Diffusion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88920" y="2770632"/>
            <a:ext cx="5600000" cy="18288"/>
          </a:xfrm>
          <a:prstGeom prst="rect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2788920" y="2816352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drift (Eval) · Business context drift · Behavioral fingerprint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131820"/>
            <a:ext cx="8229600" cy="717804"/>
          </a:xfrm>
          <a:prstGeom prst="rect">
            <a:avLst/>
          </a:prstGeom>
          <a:solidFill>
            <a:srgbClr val="2E5157">
              <a:alpha val="8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20040" y="3131820"/>
            <a:ext cx="420624" cy="717804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20040" y="3131820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04672" y="31775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4672" y="34518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power behind every request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697480" y="3204972"/>
            <a:ext cx="18288" cy="580644"/>
          </a:xfrm>
          <a:prstGeom prst="rect">
            <a:avLst/>
          </a:prstGeom>
          <a:solidFill>
            <a:srgbClr val="2E5157">
              <a:alpha val="40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788920" y="3186684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GPU (NVIDIA) · TPU (Google) · HPC Clusters · Cloud providers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88920" y="3534156"/>
            <a:ext cx="5600000" cy="18288"/>
          </a:xfrm>
          <a:prstGeom prst="rect">
            <a:avLst/>
          </a:prstGeom>
          <a:solidFill>
            <a:srgbClr val="2E5157">
              <a:alpha val="25000"/>
            </a:srgbClr>
          </a:solidFill>
          <a:ln w="12700">
            <a:solidFill>
              <a:srgbClr val="2E51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2788920" y="3579876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 latency anomaly (TTFT) · Resource utilization · VictoriaMetrics capacity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0040" y="3895344"/>
            <a:ext cx="8229600" cy="717804"/>
          </a:xfrm>
          <a:prstGeom prst="rect">
            <a:avLst/>
          </a:prstGeom>
          <a:solidFill>
            <a:srgbClr val="B45309">
              <a:alpha val="8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320040" y="3895344"/>
            <a:ext cx="420624" cy="71780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320040" y="3895344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804672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04672" y="4215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fuel: Garbage in, garbage out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697480" y="3968496"/>
            <a:ext cx="18288" cy="580644"/>
          </a:xfrm>
          <a:prstGeom prst="rect">
            <a:avLst/>
          </a:prstGeom>
          <a:solidFill>
            <a:srgbClr val="B45309">
              <a:alpha val="40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2788920" y="3950208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 · Proprietary databases · Google Workspace · Office 365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88920" y="4297680"/>
            <a:ext cx="5600000" cy="18288"/>
          </a:xfrm>
          <a:prstGeom prst="rect">
            <a:avLst/>
          </a:prstGeom>
          <a:solidFill>
            <a:srgbClr val="B45309">
              <a:alpha val="25000"/>
            </a:srgbClr>
          </a:solidFill>
          <a:ln w="12700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2788920" y="4343400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metrics · Schema drift · Personal data detection – Loki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371600" cy="237744"/>
          </a:xfrm>
          <a:prstGeom prst="rect">
            <a:avLst/>
          </a:prstGeom>
          <a:solidFill>
            <a:srgbClr val="D62828">
              <a:alpha val="85000"/>
            </a:srgbClr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28346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Crash – They Degrade Silently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them so hard to monitor with classic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8412480" cy="1051560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 LLM with infra metrics is </a:t>
            </a:r>
            <a:r>
              <a:rPr lang="en-US" sz="1100" dirty="0" err="1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conduire</a:t>
            </a: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driving while only watching the speedometer.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if you're going fast. You don't know if the fuel is poor, if the GPS gives </a:t>
            </a:r>
            <a:r>
              <a:rPr lang="en-US" sz="1100" dirty="0" err="1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mauvaises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directions, or if the engine will fail in 10 km.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27432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degradation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loses quality gradually over weeks. No one sees the change because degradation is too slow to trigger an alert.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2743200" cy="18288"/>
          </a:xfrm>
          <a:prstGeom prst="rect">
            <a:avLst/>
          </a:prstGeom>
          <a:solidFill>
            <a:srgbClr val="B45309">
              <a:alpha val="40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352958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your satisfaction score drops from 4.2 → 3.7 over 2 months. Cause: users ask out-of-distribution questions.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20574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310128" y="2057400"/>
            <a:ext cx="2743200" cy="347472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01568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breakage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47288" y="246888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event changes the context (law, product catalog, provider update). The model responds with its old knowledge.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493008"/>
            <a:ext cx="2743200" cy="18288"/>
          </a:xfrm>
          <a:prstGeom prst="rect">
            <a:avLst/>
          </a:prstGeom>
          <a:solidFill>
            <a:srgbClr val="D62828">
              <a:alpha val="40000"/>
            </a:srgbClr>
          </a:solidFill>
          <a:ln w="12700">
            <a:solidFill>
              <a:srgbClr val="D6282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447288" y="352958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GPT-4o updated by OpenAI – slightly different behavior. Your prompts optimized for the old version become suboptimal.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4496" y="20574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254496" y="2057400"/>
            <a:ext cx="2743200" cy="347472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45936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1656" y="246888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upstream component changes imperceptibly: prompt template, RAG chunking, data normalization. The model receives different inputs.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54496" y="3493008"/>
            <a:ext cx="2743200" cy="18288"/>
          </a:xfrm>
          <a:prstGeom prst="rect">
            <a:avLst/>
          </a:prstGeom>
          <a:solidFill>
            <a:srgbClr val="2E5157">
              <a:alpha val="40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391656" y="352958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 dev changes document chunking from 500 → 1000 tokens. Retrieval degrades. TTFT +40%. No one connects the dots.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xique LLM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ectionBg"/>
          <p:cNvSpPr/>
          <p:nvPr/>
        </p:nvSpPr>
        <p:spPr>
          <a:xfrm>
            <a:off x="457200" y="137160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ectionLabel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dirty="0">
                <a:solidFill>
                  <a:srgbClr val="FFFFFF"/>
                </a:solidFill>
                <a:latin typeface="Calibri" pitchFamily="34" charset="0"/>
              </a:rPr>
              <a:t>GLOSSARY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283464"/>
            <a:ext cx="822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1A2E35"/>
                </a:solidFill>
                <a:latin typeface="Calibri" pitchFamily="34" charset="0"/>
              </a:rPr>
              <a:t>Before we start: key terms</a:t>
            </a:r>
          </a:p>
        </p:txBody>
      </p:sp>
      <p:sp>
        <p:nvSpPr>
          <p:cNvPr id="6" name="Subtitle"/>
          <p:cNvSpPr/>
          <p:nvPr/>
        </p:nvSpPr>
        <p:spPr>
          <a:xfrm>
            <a:off x="457200" y="690000"/>
            <a:ext cx="82296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 dirty="0">
                <a:solidFill>
                  <a:srgbClr val="6B8A90"/>
                </a:solidFill>
                <a:latin typeface="Calibri" pitchFamily="34" charset="0"/>
              </a:rPr>
              <a:t>9 concepts to follow this talk without a dictionary</a:t>
            </a:r>
          </a:p>
        </p:txBody>
      </p:sp>
      <p:sp>
        <p:nvSpPr>
          <p:cNvPr id="10" name="Card1Bg"/>
          <p:cNvSpPr/>
          <p:nvPr/>
        </p:nvSpPr>
        <p:spPr>
          <a:xfrm>
            <a:off x="457200" y="92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Card1Hdr"/>
          <p:cNvSpPr/>
          <p:nvPr/>
        </p:nvSpPr>
        <p:spPr>
          <a:xfrm>
            <a:off x="457200" y="920000"/>
            <a:ext cx="2667000" cy="27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Card1Term"/>
          <p:cNvSpPr/>
          <p:nvPr/>
        </p:nvSpPr>
        <p:spPr>
          <a:xfrm>
            <a:off x="502200" y="92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LLM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Large Language Model</a:t>
            </a:r>
          </a:p>
        </p:txBody>
      </p:sp>
      <p:sp>
        <p:nvSpPr>
          <p:cNvPr id="13" name="Card1Def"/>
          <p:cNvSpPr/>
          <p:nvPr/>
        </p:nvSpPr>
        <p:spPr>
          <a:xfrm>
            <a:off x="502200" y="119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Model trained on billions of texts to predict the next token. It generates responses but doesn't "understand".</a:t>
            </a:r>
          </a:p>
        </p:txBody>
      </p:sp>
      <p:sp>
        <p:nvSpPr>
          <p:cNvPr id="20" name="Card2Bg"/>
          <p:cNvSpPr/>
          <p:nvPr/>
        </p:nvSpPr>
        <p:spPr>
          <a:xfrm>
            <a:off x="3238500" y="92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Card2Hdr"/>
          <p:cNvSpPr/>
          <p:nvPr/>
        </p:nvSpPr>
        <p:spPr>
          <a:xfrm>
            <a:off x="3238500" y="920000"/>
            <a:ext cx="2667000" cy="27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Card2Term"/>
          <p:cNvSpPr/>
          <p:nvPr/>
        </p:nvSpPr>
        <p:spPr>
          <a:xfrm>
            <a:off x="3283500" y="92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Token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≈ ¾ of a word</a:t>
            </a:r>
          </a:p>
        </p:txBody>
      </p:sp>
      <p:sp>
        <p:nvSpPr>
          <p:cNvPr id="23" name="Card2Def"/>
          <p:cNvSpPr/>
          <p:nvPr/>
        </p:nvSpPr>
        <p:spPr>
          <a:xfrm>
            <a:off x="3283500" y="119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The processing unit of an LLM. Cost and latency are measured in tokens. One page ≈ 750 tokens.</a:t>
            </a:r>
          </a:p>
        </p:txBody>
      </p:sp>
      <p:sp>
        <p:nvSpPr>
          <p:cNvPr id="30" name="Card3Bg"/>
          <p:cNvSpPr/>
          <p:nvPr/>
        </p:nvSpPr>
        <p:spPr>
          <a:xfrm>
            <a:off x="6019800" y="92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Card3Hdr"/>
          <p:cNvSpPr/>
          <p:nvPr/>
        </p:nvSpPr>
        <p:spPr>
          <a:xfrm>
            <a:off x="6019800" y="920000"/>
            <a:ext cx="2667000" cy="27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Card3Term"/>
          <p:cNvSpPr/>
          <p:nvPr/>
        </p:nvSpPr>
        <p:spPr>
          <a:xfrm>
            <a:off x="6064800" y="92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TTFT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Time-To-First-Token</a:t>
            </a:r>
          </a:p>
        </p:txBody>
      </p:sp>
      <p:sp>
        <p:nvSpPr>
          <p:cNvPr id="33" name="Card3Def"/>
          <p:cNvSpPr/>
          <p:nvPr/>
        </p:nvSpPr>
        <p:spPr>
          <a:xfrm>
            <a:off x="6064800" y="119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Time between the question and the first response word. Key indicator of user-perceived latency.</a:t>
            </a:r>
          </a:p>
        </p:txBody>
      </p:sp>
      <p:sp>
        <p:nvSpPr>
          <p:cNvPr id="40" name="Card4Bg"/>
          <p:cNvSpPr/>
          <p:nvPr/>
        </p:nvSpPr>
        <p:spPr>
          <a:xfrm>
            <a:off x="457200" y="208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Card4Hdr"/>
          <p:cNvSpPr/>
          <p:nvPr/>
        </p:nvSpPr>
        <p:spPr>
          <a:xfrm>
            <a:off x="457200" y="2080000"/>
            <a:ext cx="2667000" cy="270000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Card4Term"/>
          <p:cNvSpPr/>
          <p:nvPr/>
        </p:nvSpPr>
        <p:spPr>
          <a:xfrm>
            <a:off x="502200" y="208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RAG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Retrieval-Augmented Generation</a:t>
            </a:r>
          </a:p>
        </p:txBody>
      </p:sp>
      <p:sp>
        <p:nvSpPr>
          <p:cNvPr id="43" name="Card4Def"/>
          <p:cNvSpPr/>
          <p:nvPr/>
        </p:nvSpPr>
        <p:spPr>
          <a:xfrm>
            <a:off x="502200" y="235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Architecture that enriches the prompt with dynamically retrieved documents. The model knows to search before answering.</a:t>
            </a:r>
          </a:p>
        </p:txBody>
      </p:sp>
      <p:sp>
        <p:nvSpPr>
          <p:cNvPr id="50" name="Card5Bg"/>
          <p:cNvSpPr/>
          <p:nvPr/>
        </p:nvSpPr>
        <p:spPr>
          <a:xfrm>
            <a:off x="3238500" y="208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Card5Hdr"/>
          <p:cNvSpPr/>
          <p:nvPr/>
        </p:nvSpPr>
        <p:spPr>
          <a:xfrm>
            <a:off x="3238500" y="2080000"/>
            <a:ext cx="2667000" cy="270000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Card5Term"/>
          <p:cNvSpPr/>
          <p:nvPr/>
        </p:nvSpPr>
        <p:spPr>
          <a:xfrm>
            <a:off x="3283500" y="208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Hallucination</a:t>
            </a:r>
          </a:p>
        </p:txBody>
      </p:sp>
      <p:sp>
        <p:nvSpPr>
          <p:cNvPr id="53" name="Card5Def"/>
          <p:cNvSpPr/>
          <p:nvPr/>
        </p:nvSpPr>
        <p:spPr>
          <a:xfrm>
            <a:off x="3283500" y="235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Confident but factually wrong response. The model invents without flagging it. Its business Achilles' heel.</a:t>
            </a:r>
          </a:p>
        </p:txBody>
      </p:sp>
      <p:sp>
        <p:nvSpPr>
          <p:cNvPr id="60" name="Card6Bg"/>
          <p:cNvSpPr/>
          <p:nvPr/>
        </p:nvSpPr>
        <p:spPr>
          <a:xfrm>
            <a:off x="6019800" y="208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1" name="Card6Hdr"/>
          <p:cNvSpPr/>
          <p:nvPr/>
        </p:nvSpPr>
        <p:spPr>
          <a:xfrm>
            <a:off x="6019800" y="2080000"/>
            <a:ext cx="2667000" cy="270000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Card6Term"/>
          <p:cNvSpPr/>
          <p:nvPr/>
        </p:nvSpPr>
        <p:spPr>
          <a:xfrm>
            <a:off x="6064800" y="208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Prompt</a:t>
            </a:r>
          </a:p>
        </p:txBody>
      </p:sp>
      <p:sp>
        <p:nvSpPr>
          <p:cNvPr id="63" name="Card6Def"/>
          <p:cNvSpPr/>
          <p:nvPr/>
        </p:nvSpPr>
        <p:spPr>
          <a:xfrm>
            <a:off x="6064800" y="235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The instruction sent to the model. Its quality determines response quality. Injection = manipulating it from outside.</a:t>
            </a:r>
          </a:p>
        </p:txBody>
      </p:sp>
      <p:sp>
        <p:nvSpPr>
          <p:cNvPr id="70" name="Card7Bg"/>
          <p:cNvSpPr/>
          <p:nvPr/>
        </p:nvSpPr>
        <p:spPr>
          <a:xfrm>
            <a:off x="457200" y="324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1" name="Card7Hdr"/>
          <p:cNvSpPr/>
          <p:nvPr/>
        </p:nvSpPr>
        <p:spPr>
          <a:xfrm>
            <a:off x="457200" y="3240000"/>
            <a:ext cx="2667000" cy="270000"/>
          </a:xfrm>
          <a:prstGeom prst="rect">
            <a:avLst/>
          </a:prstGeom>
          <a:solidFill>
            <a:srgbClr val="1A5C63"/>
          </a:solidFill>
          <a:ln w="12700">
            <a:solidFill>
              <a:srgbClr val="1A5C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Card7Term"/>
          <p:cNvSpPr/>
          <p:nvPr/>
        </p:nvSpPr>
        <p:spPr>
          <a:xfrm>
            <a:off x="502200" y="324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Data Drift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different inputs</a:t>
            </a:r>
          </a:p>
        </p:txBody>
      </p:sp>
      <p:sp>
        <p:nvSpPr>
          <p:cNvPr id="73" name="Card7Def"/>
          <p:cNvSpPr/>
          <p:nvPr/>
        </p:nvSpPr>
        <p:spPr>
          <a:xfrm>
            <a:off x="502200" y="351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Input data changes relative to baseline. Users ask different questions than 3 months ago.</a:t>
            </a:r>
          </a:p>
        </p:txBody>
      </p:sp>
      <p:sp>
        <p:nvSpPr>
          <p:cNvPr id="80" name="Card8Bg"/>
          <p:cNvSpPr/>
          <p:nvPr/>
        </p:nvSpPr>
        <p:spPr>
          <a:xfrm>
            <a:off x="3238500" y="324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1" name="Card8Hdr"/>
          <p:cNvSpPr/>
          <p:nvPr/>
        </p:nvSpPr>
        <p:spPr>
          <a:xfrm>
            <a:off x="3238500" y="3240000"/>
            <a:ext cx="2667000" cy="270000"/>
          </a:xfrm>
          <a:prstGeom prst="rect">
            <a:avLst/>
          </a:prstGeom>
          <a:solidFill>
            <a:srgbClr val="1A5C63"/>
          </a:solidFill>
          <a:ln w="12700">
            <a:solidFill>
              <a:srgbClr val="1A5C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Card8Term"/>
          <p:cNvSpPr/>
          <p:nvPr/>
        </p:nvSpPr>
        <p:spPr>
          <a:xfrm>
            <a:off x="3283500" y="324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Concept Drift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obsolete meaning</a:t>
            </a:r>
          </a:p>
        </p:txBody>
      </p:sp>
      <p:sp>
        <p:nvSpPr>
          <p:cNvPr id="83" name="Card8Def"/>
          <p:cNvSpPr/>
          <p:nvPr/>
        </p:nvSpPr>
        <p:spPr>
          <a:xfrm>
            <a:off x="3283500" y="351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Business meaning changes (law, catalog). The model answers correctly… to an obsolete reality.</a:t>
            </a:r>
          </a:p>
        </p:txBody>
      </p:sp>
      <p:sp>
        <p:nvSpPr>
          <p:cNvPr id="90" name="Card9Bg"/>
          <p:cNvSpPr/>
          <p:nvPr/>
        </p:nvSpPr>
        <p:spPr>
          <a:xfrm>
            <a:off x="6019800" y="324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1" name="Card9Hdr"/>
          <p:cNvSpPr/>
          <p:nvPr/>
        </p:nvSpPr>
        <p:spPr>
          <a:xfrm>
            <a:off x="6019800" y="3240000"/>
            <a:ext cx="2667000" cy="270000"/>
          </a:xfrm>
          <a:prstGeom prst="rect">
            <a:avLst/>
          </a:prstGeom>
          <a:solidFill>
            <a:srgbClr val="1A5C63"/>
          </a:solidFill>
          <a:ln w="12700">
            <a:solidFill>
              <a:srgbClr val="1A5C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Card9Term"/>
          <p:cNvSpPr/>
          <p:nvPr/>
        </p:nvSpPr>
        <p:spPr>
          <a:xfrm>
            <a:off x="6064800" y="324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Pipeline Drift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altered chain</a:t>
            </a:r>
          </a:p>
        </p:txBody>
      </p:sp>
      <p:sp>
        <p:nvSpPr>
          <p:cNvPr id="93" name="Card9Def"/>
          <p:cNvSpPr/>
          <p:nvPr/>
        </p:nvSpPr>
        <p:spPr>
          <a:xfrm>
            <a:off x="6064800" y="351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A component changes silently (RAG chunking, template, provider). The model receives altered inputs.</a:t>
            </a:r>
          </a:p>
        </p:txBody>
      </p:sp>
      <p:sp>
        <p:nvSpPr>
          <p:cNvPr id="200" name="Footer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6B8A90"/>
                </a:solidFill>
                <a:latin typeface="Calibri" pitchFamily="34" charset="0"/>
              </a:rPr>
              <a:t>Samuel Desseaux • Erythix • Grafana Meetup Paris • 03/12/2026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"/>
            <a:ext cx="1371600" cy="237744"/>
          </a:xfrm>
          <a:prstGeom prst="rect">
            <a:avLst/>
          </a:prstGeom>
          <a:solidFill>
            <a:srgbClr val="D62828">
              <a:alpha val="85000"/>
            </a:srgbClr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29883" y="318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to Ask When Facing Degradation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drift type has a different cause, signal, and response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93268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data changing?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1325880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261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15910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26187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prompts, topics, or intents are evolving. Inputs no longer resemble what the model was optimized 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1261872"/>
            <a:ext cx="18288" cy="804672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577840" y="12618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778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average prompt length | Unusual topics | Different token distribution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17190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77840" y="18653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series: rolling average of token volume • Alert if drift (PSI) exceeds threshold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4028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8412480" cy="3200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25856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business context changing?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1325880" cy="8869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25877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29169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258775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seems normal, but its meaning has changed. New regulation, new product, new context. The model answers correctly... to an obsolete reality.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0" y="2587752"/>
            <a:ext cx="18288" cy="804672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577840" y="25877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response quality score | ↗ user rejections | Negative feedback without technical error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3044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77840" y="31912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panel (LLM-as-judge) • Week-over-week drift alert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8412480" cy="320040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2920" y="35844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something changed in the technical chain?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1325880" cy="886968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65760" y="39136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5760" y="42428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391363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changes unannounced: prompt template, RAG chunking, provider update, data encoding. The model receives altered inputs without anyone knowing.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0" y="3913632"/>
            <a:ext cx="18288" cy="804672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577840" y="39136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7784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First token latency (TTFT) | Error rate spike | Abnormal token volume | Declining retrieval score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77840" y="43342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77840" y="45171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 latency heatmap (TTFT) • Phoenix traces: RAG retrieval span • Error rate alert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F77F00">
              <a:alpha val="85000"/>
            </a:srgbClr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48840" y="62187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Really Costs Without LLM Observability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consequences of an unmonitored LLM in production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932688"/>
            <a:ext cx="2011680" cy="38404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LLM bill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abnormally long input, undetected call loop. Without cost alerts, the bill explodes silently.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560320" y="932688"/>
            <a:ext cx="201168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63347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3347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63347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satisfaction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65176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responses (TTFT &gt; 3s), hallucinations, inconsistencies. Users stop trusting before they complain.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54880" y="932688"/>
            <a:ext cx="2011680" cy="38404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2803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82803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obligations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systems require continuous monitoring, traceability, and documentation. Without LLM observability, you're in compliance default.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949440" y="932688"/>
            <a:ext cx="2011680" cy="384048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02259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cost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2259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02259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fix later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7804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04088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drift in 2 min vs. discovering it after 2 weeks through customer service: correction cost ×10, degraded brand image.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44751" y="75903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Measure What Really Matters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metrics, each linked to a drift type and a business impact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960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960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1261872"/>
            <a:ext cx="10972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30352" y="13075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16093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Time-to-First-Token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0" y="1426464"/>
            <a:ext cx="1371600" cy="25603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01168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14264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3167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before first response word. Target: &lt; 500ms P99. Spike = pipeline drift or degraded provider.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75104"/>
            <a:ext cx="8412480" cy="658368"/>
          </a:xfrm>
          <a:prstGeom prst="rect">
            <a:avLst/>
          </a:prstGeom>
          <a:solidFill>
            <a:srgbClr val="F7FBFC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1975104"/>
            <a:ext cx="10972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30352" y="20208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23225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Minute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0" y="2139696"/>
            <a:ext cx="1371600" cy="256032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011680" y="2139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21396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budget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20299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quota. Abnormal increase = longer prompts = data drift or injection.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6883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65760" y="2688336"/>
            <a:ext cx="109728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30352" y="2734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$/req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" y="30358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request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0" y="2852928"/>
            <a:ext cx="1371600" cy="256032"/>
          </a:xfrm>
          <a:prstGeom prst="rect">
            <a:avLst/>
          </a:prstGeom>
          <a:solidFill>
            <a:srgbClr val="F77F00">
              <a:alpha val="15000"/>
            </a:srgbClr>
          </a:solidFill>
          <a:ln w="12700">
            <a:solidFill>
              <a:srgbClr val="F77F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011680" y="2852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66160" y="28529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budget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×4 = strong signal. Cost/value ratio per use case to monitor per model.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F7FBFC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65760" y="3401568"/>
            <a:ext cx="109728" cy="658368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30352" y="34472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" y="3749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 score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0" y="3566160"/>
            <a:ext cx="1371600" cy="256032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01168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66160" y="356616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trust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LLM-as-judge. Drift = concept drift or silent provider update.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65760" y="4114800"/>
            <a:ext cx="109728" cy="6583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30352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Err%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0352" y="44622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error rate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011680" y="4279392"/>
            <a:ext cx="1371600" cy="256032"/>
          </a:xfrm>
          <a:prstGeom prst="rect">
            <a:avLst/>
          </a:prstGeom>
          <a:solidFill>
            <a:srgbClr val="D62828">
              <a:alpha val="15000"/>
            </a:srgbClr>
          </a:solidFill>
          <a:ln w="12700">
            <a:solidFill>
              <a:srgbClr val="D6282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201168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66160" y="4279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74920" y="41696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safety refusals, invalid JSON, saturated context window. Each type = different cause.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920000" y="146304"/>
            <a:ext cx="676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in 3 Layers: A Systematic Method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facing an anomaly, always start with layer 1 – then move 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914400"/>
            <a:ext cx="1417320" cy="1234440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66928" y="1024128"/>
            <a:ext cx="502920" cy="502920"/>
          </a:xfrm>
          <a:prstGeom prst="ellipse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66928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15727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stability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9601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infra or pipeline problem?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1207008"/>
            <a:ext cx="6858000" cy="13716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901952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01952" y="14173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OTel collector latency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01952" y="15910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VictoriaMetrics ingestion throughput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01952" y="17647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Collector errors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01952" y="1938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saturation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1243584"/>
            <a:ext cx="22860" cy="84124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1243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LLM context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417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TTFT &amp; latence P99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15910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count vs baseline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764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OTel Collector throughput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938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 query performance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267712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2267712"/>
            <a:ext cx="1417320" cy="123444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4048" y="2926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health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31821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consistency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28800" y="23134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input data changed?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0" y="2560320"/>
            <a:ext cx="6858000" cy="13716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901952" y="25968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01952" y="27706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Missing values, outliers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901952" y="2944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mutations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01952" y="31181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drift (PSI, KS-test)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01952" y="32918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Categorical imbalances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45152" y="2596896"/>
            <a:ext cx="22860" cy="84124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54880" y="2596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LLM context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27706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Prompt length distribution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9443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input anomalies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3118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Unusual topics (clustering)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32918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PII / injection detection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621024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320040" y="3621024"/>
            <a:ext cx="1417320" cy="12344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566928" y="373075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6692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84048" y="42793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health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" y="45354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828800" y="36667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model responding relevantly and reliably?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828800" y="3913632"/>
            <a:ext cx="6858000" cy="13716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1901952" y="39502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901952" y="41239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F1 / AUC / RMSE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901952" y="4297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Calibration, score drift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901952" y="447141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drift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901952" y="46451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balance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45152" y="3950208"/>
            <a:ext cx="22860" cy="84124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754880" y="3950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LLM context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754880" y="41239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 score (LLM-as-judge)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54880" y="4297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Hallucination rate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54880" y="44714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Relevance &amp; coherence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54880" y="4645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Cross-version prompt drift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5740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4 Open Source Bricks, Zero Vendor Lock-In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brick addresses a diagnostic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932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042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LangChain, LlamaIndex, vLLM, Ollama, Azure OpenAI…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49047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5943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1609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719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 • Arize Phoenix • otel-llm-instruments (3 lines of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16712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49424"/>
            <a:ext cx="8412480" cy="594360"/>
          </a:xfrm>
          <a:prstGeom prst="rect">
            <a:avLst/>
          </a:prstGeom>
          <a:solidFill>
            <a:srgbClr val="14746C"/>
          </a:solidFill>
          <a:ln w="12700">
            <a:solidFill>
              <a:srgbClr val="1474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&amp; STOCKAGE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Prometheus scrape → VictoriaMetrics (metrics) + OTel Collector → Loki (logs + traces)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284378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1A3D3A"/>
          </a:solidFill>
          <a:ln w="12700">
            <a:solidFill>
              <a:srgbClr val="1A3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2962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ALERTING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072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(dashboards) • </a:t>
            </a:r>
            <a:r>
              <a:rPr lang="en-US" sz="1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1024128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8412480" cy="292608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 • Data sovereignty • On-premise or cloud • AI Act compliant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data at a third-party SaaS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005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compatible (industrial context)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005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VictoriaMetrics: 10-20× less RAM than Prometheus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Security: How Observability Detects Attacks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+ Phoenix + VictoriaMetrics instrumentation as an active security tool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77824"/>
            <a:ext cx="8412480" cy="438912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87782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 security cannot be monitored with a classic SIEM. It is read in its tokens, its scores, its traces."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04288" y="13716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signal (Grafana/Phoenix)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25312" y="1371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06640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591056"/>
            <a:ext cx="8430768" cy="22860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47472" y="1618488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02336" y="1655064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04288" y="1709928"/>
            <a:ext cx="109728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304288" y="1709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1645920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 input token spike · Abnormal span in Phoenix trace · Topic shift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25312" y="1655064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traces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VM alert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709928"/>
            <a:ext cx="1298448" cy="23774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406640" y="17099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" y="2055571"/>
            <a:ext cx="8430768" cy="418795"/>
          </a:xfrm>
          <a:prstGeom prst="rect">
            <a:avLst/>
          </a:prstGeom>
          <a:solidFill>
            <a:srgbClr val="F7FBFC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02336" y="2092147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RAG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(retrieval poisoning)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04288" y="2147011"/>
            <a:ext cx="109728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304288" y="214701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20440" y="2083003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score drops (Phoenix span) · Eval score collapse · TTFT stable but quality 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25312" y="2092147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eval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Loki logs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06640" y="2147011"/>
            <a:ext cx="1298448" cy="23774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406640" y="2147011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2492654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02336" y="2529230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(training data)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4288" y="2584094"/>
            <a:ext cx="1097280" cy="237744"/>
          </a:xfrm>
          <a:prstGeom prst="rect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304288" y="258409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20440" y="2520086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concept drift on eval score · Behavioral shift on certain topics · High PSI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25312" y="2529230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drift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VM time series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06640" y="2584094"/>
            <a:ext cx="1298448" cy="237744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406640" y="258409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2929738"/>
            <a:ext cx="8430768" cy="418795"/>
          </a:xfrm>
          <a:prstGeom prst="rect">
            <a:avLst/>
          </a:prstGeom>
          <a:solidFill>
            <a:srgbClr val="F7FBFC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02336" y="2966314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&amp; bypass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04288" y="3021178"/>
            <a:ext cx="1097280" cy="23774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304288" y="302117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20440" y="2957170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eval spike (Phoenix) · Out-of-distribution responses · Content policy violations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25312" y="2966314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eval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(toxicity)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06640" y="3021178"/>
            <a:ext cx="1298448" cy="23774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7406640" y="302117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7472" y="3366821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02336" y="3403397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outputs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04288" y="3458261"/>
            <a:ext cx="1097280" cy="23774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04288" y="345826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520440" y="3394253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 anomaly (very long) · PII detected in output (Loki) · Repetitive pattern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25312" y="3403397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OTel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sampling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06640" y="3458261"/>
            <a:ext cx="1298448" cy="237744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406640" y="3458261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7472" y="3803904"/>
            <a:ext cx="8430768" cy="418795"/>
          </a:xfrm>
          <a:prstGeom prst="rect">
            <a:avLst/>
          </a:prstGeom>
          <a:solidFill>
            <a:srgbClr val="F7FBFC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02336" y="3840480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(provider/dependencies)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04288" y="3895344"/>
            <a:ext cx="1097280" cy="237744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304288" y="38953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LLM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20440" y="3831336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behavioral fingerprint shift · Eval score break after update · TTFT change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25312" y="3840480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eval drift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Phoenix baseline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06640" y="3895344"/>
            <a:ext cx="1298448" cy="237744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7406640" y="38953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7472" y="4240987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02336" y="4277563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theft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inversion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304288" y="4332427"/>
            <a:ext cx="1097280" cy="237744"/>
          </a:xfrm>
          <a:prstGeom prst="rect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5B2D8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2304288" y="4332427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520440" y="4268419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similar request patterns (scraping) · Abnormal request volume · User anomaly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25312" y="4277563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rate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+ logs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06640" y="4332427"/>
            <a:ext cx="1298448" cy="237744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7406640" y="4332427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973766" y="594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OpenTelemetry: Instrument in 3 Lines of Code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CNCF standard – model-agnostic, cloud-agnostic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896112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instrumented signals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636776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1591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llm.token.input / output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1883664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" y="1837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llm.request.latency (histogram)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130552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llm.request.cost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3152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llm.error.rate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297180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3152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span prompt → response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3218688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calls, tool calls, agents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3465576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31520" y="3419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↔ trace correlation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712464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31520" y="3666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 attached to span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3820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01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31520" y="397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prompt (PII masked)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16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731520" y="412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evaluator score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431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31520" y="427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version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" y="446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31520" y="442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session &amp; tenant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0" y="896112"/>
            <a:ext cx="4206240" cy="3794760"/>
          </a:xfrm>
          <a:prstGeom prst="rect">
            <a:avLst/>
          </a:prstGeom>
          <a:solidFill>
            <a:srgbClr val="1A2E35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572000" y="896112"/>
            <a:ext cx="4206240" cy="379476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09160" y="932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lines to get started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123444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140817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arize.otel import register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158191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175564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register( # 1 ligne pour tout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192938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project_name='mon-llm',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210312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endpoint='http://otel-col:4317'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227685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63440" y="245059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62432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Ensuite, tracer manuellement 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63440" y="279806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trace.get_tracer(__name__)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63440" y="297180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tracer.start_as_current_span(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63440" y="314553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"llm.call") as span: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331927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span.set_attribute("llm.model",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63440" y="349300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63440" y="366674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span.set_attribute("llm.tokens",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63440" y="384048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token_count)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921727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VictoriaMetrics: Essential LLM Dashboards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VictoriaMetrics over Prometheus alone?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896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– why?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10-20×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RAM que Prometheus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739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MetricsQL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expressif que PromQL pour l'analyse temporelle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without cardinality explosion (user_id, session_id...)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cluster, isolation par projet / client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896112"/>
            <a:ext cx="4297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480560" y="896112"/>
            <a:ext cx="429768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0" y="896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essential Grafana panels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1298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token latency heatmap (TTFT) – reveals outliers that averages hide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1728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Stat: cumulative 24h cost per model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21579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series: rolling average token volume (detects data drift)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587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series: hallucination rate per model (concept drift)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Gauge: average quality score (1h rolling) vs baseline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8412480" cy="1353312"/>
          </a:xfrm>
          <a:prstGeom prst="rect">
            <a:avLst/>
          </a:prstGeom>
          <a:solidFill>
            <a:srgbClr val="1A2E35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456432"/>
            <a:ext cx="8412480" cy="135331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34930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MetricsQL queries: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71246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by (model) (rate(llm_cost_usd_total[2m]) * 60) # cost USD/min per model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9502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 rate(llm_ttft_seconds_bucket{model=~"$model"}[2m])) # TTFT P99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187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avg(llm_eval_score) &lt; 0.7 # alert concept drift — avg(llm_hallucination_rate) &gt; 0.1 # taux hallucination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75688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Phoenix: See Inside LLM Requests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4th pillar – traces and quality evaluation, integrated with Grafana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8412480" cy="566928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GPU à 0% ne vous dit pas si votre LLM hallucine. Phoenix si."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Tree-structured traces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becomes a tree of spans: retrieval, reranking, LLM call, tool calls. You see exactly where time was spent and where quality degrades.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2743200" cy="1828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case: reranking took 6s out of 8s total. Invisible in Grafana. Obvious in Phoenix.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157276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310128" y="1572768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01568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LLM-as-judge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9856" y="19842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evaluates each response automatically: hallucination, relevance, toxicity, accuracy. These scores become Prometheus metrics → Grafana dashboard.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3072384"/>
            <a:ext cx="2743200" cy="18288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19856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5 min. No ground truth needed to start. Refine with your domain.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4496" y="157276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254496" y="1572768"/>
            <a:ext cx="2743200" cy="347472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345936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dataset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4224" y="19842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golden dataset defines your quality baseline. All drift is measured against it. It's your reference snapshot before deployment.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54496" y="3072384"/>
            <a:ext cx="2743200" cy="18288"/>
          </a:xfrm>
          <a:prstGeom prst="rect">
            <a:avLst/>
          </a:prstGeom>
          <a:solidFill>
            <a:srgbClr val="2E5157">
              <a:alpha val="40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364224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update = step 4 of the improvement loop. Without a baseline, no measurement.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8412480" cy="822960"/>
          </a:xfrm>
          <a:prstGeom prst="rect">
            <a:avLst/>
          </a:prstGeom>
          <a:solidFill>
            <a:srgbClr val="EFF8F9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85876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integration: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exposes native /metrics Prometheus → VictoriaMetrics scraping → unified infra + quality dashboard.</a:t>
            </a:r>
            <a:r>
              <a:rPr lang="en-US" sz="10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(offline) or online (continuous) depending on criticality.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00146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Alerting: 5 Rules per Drift Type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alert points to a cause – not just a threshold value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a good alert tells you what to do, not just that something is broken.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1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100000"/>
            <a:ext cx="914400" cy="6583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1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1191440"/>
            <a:ext cx="1005840" cy="228600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371600" y="11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14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1er token (TTFT P99) &gt; 3s sur 5 min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1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 up or fallback to lighter model. Check OTel → VM pipeline.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7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1700000"/>
            <a:ext cx="914400" cy="6583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17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71600" y="1791440"/>
            <a:ext cx="1005840" cy="228600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371600" y="17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20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&gt; 5% sur 30s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17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Immediate incident. Rollback the prompt template version.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3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2300000"/>
            <a:ext cx="914400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23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71600" y="2391440"/>
            <a:ext cx="100584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371600" y="23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71600" y="26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token volume × 1.5 the baseline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23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Probable data drift or injection. Audit inputs. Alert PO.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9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2900000"/>
            <a:ext cx="914400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29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71600" y="2991440"/>
            <a:ext cx="1005840" cy="22860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371600" y="29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71600" y="32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quality score (1h window) &lt; 0.7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29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Concept drift or provider updated. Launch quality review.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5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65760" y="3500000"/>
            <a:ext cx="91440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65760" y="35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371600" y="3591440"/>
            <a:ext cx="100584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371600" y="35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371600" y="38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cardinality explosion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800600" y="35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Dynamic label detected (user_id?) – refactor labels.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160000"/>
            <a:ext cx="8412480" cy="27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don't alert on GPU metrics to judge LLM quality – no direct correlation.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926080" y="457200"/>
            <a:ext cx="32918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926080" y="457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Detected Problem to Identified Cause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09928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 + prometheus_client – LLM-native metrics (TTFT, eval, hallucination, cost)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50000" y="1755648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50000" y="1755648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23042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22576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pipeline: scrape /metrics → VictoriaMetrics (5s) + OTel Collector → Loki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0000" y="2368296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50000" y="2368296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85800" y="291693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935224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dashboard: TTFT, eval score, hallucination rate, cost/quality, satisfaction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50000" y="2980944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50000" y="2980944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5800" y="35295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58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547872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Phoenix: full RAG trace + eval score vs golden dataset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50000" y="3593592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50000" y="3593592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5800" y="41422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580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160520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3 drifts (concept, pipeline, data) → Grafana annotations → alerts → baseline reset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50000" y="4206240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950000" y="4206240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Badge_bg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Badge_text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920000" y="164592"/>
            <a:ext cx="630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Feedback: Two Real Cases, From Detection to Solution</a:t>
            </a:r>
            <a:endParaRPr lang="en-US" sz="2100" dirty="0"/>
          </a:p>
        </p:txBody>
      </p:sp>
      <p:sp>
        <p:nvSpPr>
          <p:cNvPr id="52" name="Subtitle"/>
          <p:cNvSpPr/>
          <p:nvPr/>
        </p:nvSpPr>
        <p:spPr>
          <a:xfrm>
            <a:off x="457200" y="640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stacks, two different drifts — detected in under 2 minutes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000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– RAG on Internal Documentation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 (RAG chunking)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P99 &gt; 8s - taux d'abandon x3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sessions abandoned. SLA not met.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TTFT + trace Phoenix → span reranking = 6s/8s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500→200 tokens, lighter reranker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→ 1.2s. SLA restored. Reranking cost -60%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1605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– LLM Agent, Industrial Production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29844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(prompt injection)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86537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×4 in 2 weeks, without alert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43230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overage +€12K. Security risk.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99923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rolling avg anomaly + Phoenix toxicity eval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56616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filtering + cost/hour alert + token budget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13308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 &lt; 2 min. Cost normalized D+1.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Loop and Why the AI Act Makes It Mandatory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AI is a monitored AI. Continuously.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94360" y="9144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traces, logs.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anomaly before the user.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12848" y="1783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32888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807208" y="9144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07208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96896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24328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Qualify: Data, Concept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Pipeline drift? Segment.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25696" y="1783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45736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20056" y="9144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0056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09744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37176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update, fine-tuning,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fix, model rollback.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38544" y="1783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58584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232904" y="914400"/>
            <a:ext cx="548640" cy="5486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232904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22592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0024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updated.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baseline. Retest.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310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Permanent process – observability is not a project, it's a practice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703320"/>
            <a:ext cx="8503920" cy="1143000"/>
          </a:xfrm>
          <a:prstGeom prst="rect">
            <a:avLst/>
          </a:prstGeom>
          <a:solidFill>
            <a:srgbClr val="F8F0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3703320"/>
            <a:ext cx="850392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(EU) – Observability as a Legal Obligation for High-Risk Systems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Obligations: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monitoring, decision traceability, drift detection, logging.</a:t>
            </a: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stack directly meets these requirements – no third-party SaaS, sovereign data, auditable.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Badge_bg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Badge_text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920000" y="164592"/>
            <a:ext cx="630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to Start Tomorrow Morning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independent – start with the one that scares you least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03/12/2026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941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Instrument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987552"/>
            <a:ext cx="1078992" cy="219456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834640" y="9875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Pipeline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5072" y="93268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 + arize-otel auto-instrument. 3 lines. Run locally first.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664208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7282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1755648"/>
            <a:ext cx="1078992" cy="219456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83464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Pipeline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05072" y="170078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: VictoriaMetrics + Loki + Grafana. Lab complet : </a:t>
            </a:r>
            <a:r>
              <a:rPr lang="en-US" sz="105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/erythix4/</a:t>
            </a:r>
            <a:r>
              <a:rPr lang="en-US" sz="105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aiobs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43230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11480" y="249631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Visualize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2523744"/>
            <a:ext cx="1078992" cy="21945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834640" y="252374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Pipeline+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05072" y="246888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importable in 1 click. 5 essential LLM panels. TTFT heatmap first.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20040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11480" y="326440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114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246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3291840"/>
            <a:ext cx="1078992" cy="219456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834640" y="329184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05072" y="3236976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local (pip install + 1 command). Create a golden dataset of 50 examples. That's enough to start.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96849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11480" y="403250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1148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014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Alert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34640" y="4059936"/>
            <a:ext cx="1078992" cy="219456"/>
          </a:xfrm>
          <a:prstGeom prst="rect">
            <a:avLst/>
          </a:prstGeom>
          <a:solidFill>
            <a:srgbClr val="F77F00">
              <a:alpha val="12000"/>
            </a:srgbClr>
          </a:solidFill>
          <a:ln w="12700">
            <a:solidFill>
              <a:srgbClr val="F77F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834640" y="40599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Toutes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05072" y="400507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minimal rules: TTFT P99 (pipeline), eval score rolling (concept), token count anomaly (data).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solidFill>
            <a:srgbClr val="E8F4F6"/>
          </a:solidFill>
          <a:ln w="12700">
            <a:solidFill>
              <a:srgbClr val="2D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solidFill>
            <a:srgbClr val="F4F8F9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335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 drift types: Data / Concept / Pipeline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335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experience, security, AI Act compliance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335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→ VictoriaMetrics → Grafana + Phoenix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8229600" cy="1810512"/>
          </a:xfrm>
          <a:prstGeom prst="rect">
            <a:avLst/>
          </a:prstGeom>
          <a:solidFill>
            <a:srgbClr val="E8F4F6"/>
          </a:solidFill>
          <a:ln w="12700">
            <a:solidFill>
              <a:srgbClr val="2D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8229600" cy="181051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440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871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complet (Docker Compose + dashboards + scripts) :</a:t>
            </a:r>
            <a:r>
              <a:rPr lang="en-US" sz="11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/erythix4/</a:t>
            </a:r>
            <a:r>
              <a:rPr lang="en-US" sz="11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aiobs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895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hlinkClick r:id="rId3"/>
              </a:rPr>
              <a:t>https://github.com/erythix4/ml-security-monitoring</a:t>
            </a:r>
            <a:r>
              <a:rPr lang="en-US" sz="1100" dirty="0"/>
              <a:t> </a:t>
            </a:r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: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phoenix.arize.com - Self-hosted, MIT License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6941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: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victoriametrics.com - Training partner France/Benelux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sdesseaux@erythix.tech</a:t>
            </a:r>
            <a:r>
              <a:rPr lang="en-US" sz="12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linkedin.com/in/</a:t>
            </a:r>
            <a:r>
              <a:rPr lang="en-US" sz="1200" dirty="0" err="1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sdesseaux</a:t>
            </a:r>
            <a:r>
              <a:rPr lang="en-US" sz="12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n-US" sz="1200" err="1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erythix</a:t>
            </a:r>
            <a:r>
              <a:rPr lang="en-US" sz="120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407408"/>
            <a:ext cx="6400800" cy="530352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371600" y="44074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 "Securing LLMs in Production" – April 1, 2026 · Lille · FIC · Live YouTube/LinkedIn</a:t>
            </a:r>
            <a:endParaRPr lang="en-US" sz="1000" dirty="0"/>
          </a:p>
        </p:txBody>
      </p:sp>
      <p:pic>
        <p:nvPicPr>
          <p:cNvPr id="50" name="QR_resou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6858000" y="1950000"/>
            <a:ext cx="1829000" cy="1829000"/>
          </a:xfrm>
          <a:prstGeom prst="rect">
            <a:avLst/>
          </a:prstGeom>
          <a:noFill/>
        </p:spPr>
      </p:pic>
      <p:sp>
        <p:nvSpPr>
          <p:cNvPr id="51" name="QR_label"/>
          <p:cNvSpPr/>
          <p:nvPr/>
        </p:nvSpPr>
        <p:spPr>
          <a:xfrm>
            <a:off x="6758000" y="3810000"/>
            <a:ext cx="203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</a:rPr>
              <a:t>github.com/E4Itraining/AI-monitoring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3590</Words>
  <Application>Microsoft Macintosh PowerPoint</Application>
  <PresentationFormat>Affichage à l'écran (16:9)</PresentationFormat>
  <Paragraphs>521</Paragraphs>
  <Slides>21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Observabilité LLM en production — v4</dc:title>
  <dc:subject>PptxGenJS Presentation</dc:subject>
  <dc:creator>Samuel Desseaux - Erythix</dc:creator>
  <cp:lastModifiedBy>samuel desseaux</cp:lastModifiedBy>
  <cp:revision>17</cp:revision>
  <dcterms:created xsi:type="dcterms:W3CDTF">2026-03-07T15:47:37Z</dcterms:created>
  <dcterms:modified xsi:type="dcterms:W3CDTF">2026-03-13T13:32:16Z</dcterms:modified>
</cp:coreProperties>
</file>