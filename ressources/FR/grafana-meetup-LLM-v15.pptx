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7" r:id="rId3"/>
    <p:sldId id="257" r:id="rId4"/>
    <p:sldId id="261" r:id="rId5"/>
    <p:sldId id="258" r:id="rId6"/>
    <p:sldId id="276" r:id="rId7"/>
    <p:sldId id="259" r:id="rId8"/>
    <p:sldId id="260" r:id="rId9"/>
    <p:sldId id="263" r:id="rId10"/>
    <p:sldId id="264" r:id="rId11"/>
    <p:sldId id="265" r:id="rId12"/>
    <p:sldId id="26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63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rythix4/ml-security-monitoring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498080" y="-182880"/>
            <a:ext cx="2194560" cy="219456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94360" y="475488"/>
            <a:ext cx="24688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94360" y="475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Meetup Paris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32688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</a:t>
            </a:r>
            <a:r>
              <a:rPr lang="en-US" sz="4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Comprendre-Fiabiliser-Maitriser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dérive (Data · Concept · Pipeline) · sécurité · conformité AI 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035808"/>
            <a:ext cx="2423160" cy="566928"/>
          </a:xfrm>
          <a:prstGeom prst="rect">
            <a:avLst/>
          </a:prstGeom>
          <a:solidFill>
            <a:srgbClr val="D62828">
              <a:alpha val="20000"/>
            </a:srgbClr>
          </a:solidFill>
          <a:ln w="12700">
            <a:solidFill>
              <a:srgbClr val="D6282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30540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2552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Concept · Pipeline drift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3035808"/>
            <a:ext cx="2423160" cy="566928"/>
          </a:xfrm>
          <a:prstGeom prst="rect">
            <a:avLst/>
          </a:prstGeom>
          <a:solidFill>
            <a:srgbClr val="F77F00">
              <a:alpha val="20000"/>
            </a:srgbClr>
          </a:solidFill>
          <a:ln w="12700">
            <a:solidFill>
              <a:srgbClr val="F77F0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29000" y="30540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2552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3035808"/>
            <a:ext cx="2423160" cy="566928"/>
          </a:xfrm>
          <a:prstGeom prst="rect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72200" y="305409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325526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· VictoriaMetrics · Grafana · Phoenix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5029200" cy="18288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38221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</a:t>
            </a:r>
            <a:r>
              <a:rPr lang="en-US" sz="13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300" dirty="0" err="1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16966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709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mars 2026 • Station F</a:t>
            </a:r>
            <a:endParaRPr lang="en-US" sz="1000" dirty="0"/>
          </a:p>
        </p:txBody>
      </p:sp>
      <p:sp>
        <p:nvSpPr>
          <p:cNvPr id="72" name="gf_inner"/>
          <p:cNvSpPr>
            <a:spLocks noGrp="1"/>
          </p:cNvSpPr>
          <p:nvPr/>
        </p:nvSpPr>
        <p:spPr>
          <a:xfrm>
            <a:off x="6520000" y="4560000"/>
            <a:ext cx="160000" cy="1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3" name="gf_text"/>
          <p:cNvSpPr/>
          <p:nvPr/>
        </p:nvSpPr>
        <p:spPr>
          <a:xfrm>
            <a:off x="6950000" y="4450000"/>
            <a:ext cx="15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5A28"/>
                </a:solidFill>
                <a:latin typeface="Calibri" pitchFamily="34" charset="0"/>
              </a:rPr>
              <a:t>Grafana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2801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11480" y="10972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suis-je?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· Erythix (FR)  - </a:t>
            </a:r>
            <a:r>
              <a:rPr lang="en-US" sz="1300" dirty="0" err="1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Skophia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0" y="228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000000"/>
                </a:solidFill>
              </a:rPr>
              <a:t>🇫🇷 🇧🇪 🇩🇪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64008" cy="9601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systèmes ne remontent pas, c'est là que naissent les incidents.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2542032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2542032"/>
            <a:ext cx="2651760" cy="5486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</a:t>
            </a:r>
            <a:r>
              <a:rPr lang="en-US" sz="1200" b="1" kern="0" spc="100" dirty="0" err="1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qu’on</a:t>
            </a:r>
            <a:r>
              <a:rPr lang="en-US" sz="1200" b="1" kern="0" spc="100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Observabilité IT/OT/IA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signal à la décision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Énergie · Manufacturing · Défense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54680" y="2542032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154680" y="2542032"/>
            <a:ext cx="265176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9184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44952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91840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souverain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lock-in éditeur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9184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aux équipes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2542032"/>
            <a:ext cx="26517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5989320" y="2542032"/>
            <a:ext cx="2651760" cy="54864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26480" y="26517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Crédibilité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044952"/>
            <a:ext cx="237744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126480" y="31638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· Arize AI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26480" y="36393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FOSDEM  · OSMC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26480" y="4114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 infrastructures critiques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 ·  Maîtriser  ·  Décider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"/>
            <a:ext cx="1371600" cy="237744"/>
          </a:xfrm>
          <a:prstGeom prst="rect">
            <a:avLst/>
          </a:prstGeom>
          <a:solidFill>
            <a:srgbClr val="D62828">
              <a:alpha val="85000"/>
            </a:srgbClr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3383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9h lundi matin. Votre Grafana est vert.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62179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8412480" cy="1965960"/>
          </a:xfrm>
          <a:prstGeom prst="rect">
            <a:avLst/>
          </a:prstGeom>
          <a:solidFill>
            <a:srgbClr val="FFF8F8"/>
          </a:solidFill>
          <a:ln w="12700">
            <a:solidFill>
              <a:srgbClr val="FFCDD2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solidFill>
            <a:srgbClr val="D62828">
              <a:alpha val="90000"/>
            </a:srgbClr>
          </a:solidFill>
          <a:ln w="12700">
            <a:solidFill>
              <a:srgbClr val="D62828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868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scène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29844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à 30% • RAM stable • Latence réseau &lt; 5ms • Error rate HTTP : 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16642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99.98% • Grafana vert partout • Aucune alerte depuis 48h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0299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chatbot RH répond que le congé paternité dure 2 jours (la loi a changé il y a </a:t>
            </a:r>
            <a:r>
              <a:rPr lang="en-US" sz="1200" b="1" dirty="0" err="1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</a:t>
            </a: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mois)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39572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assistant commercial hallucine le prix d'un produit que vous avez retiré du catalogue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1A2E35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65760" y="2971800"/>
            <a:ext cx="8412480" cy="71323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infrastructure est en bonne santé. </a:t>
            </a:r>
            <a:r>
              <a:rPr lang="en-US" sz="1300" b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13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IA, </a:t>
            </a: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lui, s'est trompé sur des milliers de réponses. Vous ne le saviez pas.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? Parce que les outils classiques surveillent l'infrastructure, pas le sens de ce que dit votre modèle.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talk répond à une question : comment passer de « Grafana vert » à « IA fiable, sécurisé et conforme » 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L'architecture IA en 5 couches - chaque couche est une surface d'attaque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: The 5 Layers of Generative AI • Menaces OWASP LLM Top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68096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41248"/>
            <a:ext cx="8229600" cy="717804"/>
          </a:xfrm>
          <a:prstGeom prst="rect">
            <a:avLst/>
          </a:prstGeom>
          <a:solidFill>
            <a:srgbClr val="00A896">
              <a:alpha val="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420624" cy="7178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841248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672" y="886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11612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l'utilisateur voit et utilise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97480" y="914400"/>
            <a:ext cx="18288" cy="580644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88920" y="896112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Copilot · Claude · Gemini · Apps métier internes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88920" y="1243584"/>
            <a:ext cx="5600000" cy="18288"/>
          </a:xfrm>
          <a:prstGeom prst="rect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88920" y="1289304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qualité (Eval) · Violations de politique de contenu · Anomalie longueur réponse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1604772"/>
            <a:ext cx="8229600" cy="717804"/>
          </a:xfrm>
          <a:prstGeom prst="rect">
            <a:avLst/>
          </a:prstGeom>
          <a:solidFill>
            <a:srgbClr val="028090">
              <a:alpha val="8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0040" y="1604772"/>
            <a:ext cx="420624" cy="71780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20040" y="1604772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" y="16504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" y="19248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colle invisible entre modèles et apps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97480" y="1677924"/>
            <a:ext cx="18288" cy="58064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88920" y="1659636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LlamaIndex · OpenAI API · LlamaIndex · Semantic Kernel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88920" y="2007108"/>
            <a:ext cx="5600000" cy="1828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788920" y="2052828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OTel : injection de span · Score de récupération RAG anormal · Pic de tokens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" y="2368296"/>
            <a:ext cx="8229600" cy="717804"/>
          </a:xfrm>
          <a:prstGeom prst="rect">
            <a:avLst/>
          </a:prstGeom>
          <a:solidFill>
            <a:srgbClr val="5B2D8E">
              <a:alpha val="8000"/>
            </a:srgbClr>
          </a:solidFill>
          <a:ln w="12700">
            <a:solidFill>
              <a:srgbClr val="5B2D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2368296"/>
            <a:ext cx="420624" cy="71780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20040" y="2368296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04672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LLM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" y="268833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cerveau statistique : il prédit, il ne comprend pas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7480" y="2441448"/>
            <a:ext cx="18288" cy="580644"/>
          </a:xfrm>
          <a:prstGeom prst="rect">
            <a:avLst/>
          </a:prstGeom>
          <a:solidFill>
            <a:srgbClr val="5B2D8E">
              <a:alpha val="40000"/>
            </a:srgbClr>
          </a:solidFill>
          <a:ln w="12700">
            <a:solidFill>
              <a:srgbClr val="5B2D8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788920" y="2423160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Llama 3 · Mistral · Phi-3 · Mixtral · Stable Diffusion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88920" y="2770632"/>
            <a:ext cx="5600000" cy="18288"/>
          </a:xfrm>
          <a:prstGeom prst="rect">
            <a:avLst/>
          </a:prstGeom>
          <a:solidFill>
            <a:srgbClr val="5B2D8E">
              <a:alpha val="25000"/>
            </a:srgbClr>
          </a:solidFill>
          <a:ln w="12700">
            <a:solidFill>
              <a:srgbClr val="5B2D8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2788920" y="2816352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du score qualité (Eval) · Dérive de contexte métier · Empreinte comportementale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131820"/>
            <a:ext cx="8229600" cy="717804"/>
          </a:xfrm>
          <a:prstGeom prst="rect">
            <a:avLst/>
          </a:prstGeom>
          <a:solidFill>
            <a:srgbClr val="2E5157">
              <a:alpha val="8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20040" y="3131820"/>
            <a:ext cx="420624" cy="717804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20040" y="3131820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04672" y="31775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4672" y="34518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puissance brute derrière chaque requête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697480" y="3204972"/>
            <a:ext cx="18288" cy="580644"/>
          </a:xfrm>
          <a:prstGeom prst="rect">
            <a:avLst/>
          </a:prstGeom>
          <a:solidFill>
            <a:srgbClr val="2E5157">
              <a:alpha val="40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788920" y="3186684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GPU (NVIDIA) · TPU (Google) · HPC Clusters · Cloud providers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788920" y="3534156"/>
            <a:ext cx="5600000" cy="18288"/>
          </a:xfrm>
          <a:prstGeom prst="rect">
            <a:avLst/>
          </a:prstGeom>
          <a:solidFill>
            <a:srgbClr val="2E5157">
              <a:alpha val="25000"/>
            </a:srgbClr>
          </a:solidFill>
          <a:ln w="12700">
            <a:solidFill>
              <a:srgbClr val="2E5157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2788920" y="3579876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 latence 1er token (TTFT) · Utilisation des ressources · Capacité VictoriaMetrics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0040" y="3895344"/>
            <a:ext cx="8229600" cy="717804"/>
          </a:xfrm>
          <a:prstGeom prst="rect">
            <a:avLst/>
          </a:prstGeom>
          <a:solidFill>
            <a:srgbClr val="B45309">
              <a:alpha val="8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320040" y="3895344"/>
            <a:ext cx="420624" cy="71780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320040" y="3895344"/>
            <a:ext cx="420624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804672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04672" y="42153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carburant : Garbage in, garbage out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697480" y="3968496"/>
            <a:ext cx="18288" cy="580644"/>
          </a:xfrm>
          <a:prstGeom prst="rect">
            <a:avLst/>
          </a:prstGeom>
          <a:solidFill>
            <a:srgbClr val="B45309">
              <a:alpha val="40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2788920" y="3950208"/>
            <a:ext cx="560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Crawl · Bases propriétaires · Google Workspace · Office 365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788920" y="4297680"/>
            <a:ext cx="5600000" cy="18288"/>
          </a:xfrm>
          <a:prstGeom prst="rect">
            <a:avLst/>
          </a:prstGeom>
          <a:solidFill>
            <a:srgbClr val="B45309">
              <a:alpha val="25000"/>
            </a:srgbClr>
          </a:solidFill>
          <a:ln w="12700">
            <a:solidFill>
              <a:srgbClr val="B4530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2788920" y="4343400"/>
            <a:ext cx="560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:</a:t>
            </a:r>
            <a:r>
              <a:rPr lang="en-US" sz="8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qualité des données · Dérive de schéma · Détection données personnelles - Loki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1371600" cy="237744"/>
          </a:xfrm>
          <a:prstGeom prst="rect">
            <a:avLst/>
          </a:prstGeom>
          <a:solidFill>
            <a:srgbClr val="D62828">
              <a:alpha val="85000"/>
            </a:srgbClr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28346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LLMs ne tombent pas : ils dégradent silencieusement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les rend si difficiles à surveiller avec des outils classiques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8412480" cy="1051560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un LLM avec des métriques infra, </a:t>
            </a:r>
            <a:r>
              <a:rPr lang="en-US" sz="1100" dirty="0" err="1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conduire</a:t>
            </a: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regardant uniquement le compteur de vitesse.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savez si vous roulez vite. Vous ne savez pas si le carburant est de mauvaise qualité, si le GPS donne de </a:t>
            </a:r>
            <a:r>
              <a:rPr lang="en-US" sz="1100" dirty="0" err="1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mauvaises</a:t>
            </a:r>
            <a:r>
              <a:rPr lang="en-US" sz="11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directions ou si le moteur va lâcher dans 10 km.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274320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Dégradation progressive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perd en qualité progressivement sur des semaines. Personne ne voit le changement car la dégradation est trop lente pour déclencher une alerte.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493008"/>
            <a:ext cx="2743200" cy="18288"/>
          </a:xfrm>
          <a:prstGeom prst="rect">
            <a:avLst/>
          </a:prstGeom>
          <a:solidFill>
            <a:srgbClr val="B45309">
              <a:alpha val="40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352958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votre score de satisfaction baisse de 4.2 → 3.7 sur 2 mois. Cause : les utilisateurs posent des questions hors distribution d'entraînement.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20574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3310128" y="2057400"/>
            <a:ext cx="2743200" cy="347472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01568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silencieuse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47288" y="246888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événement externe change le contexte (loi, catalogue produit, mise à jour provider). Le modèle répond avec ses anciennes connaissances.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0128" y="3493008"/>
            <a:ext cx="2743200" cy="18288"/>
          </a:xfrm>
          <a:prstGeom prst="rect">
            <a:avLst/>
          </a:prstGeom>
          <a:solidFill>
            <a:srgbClr val="D62828">
              <a:alpha val="40000"/>
            </a:srgbClr>
          </a:solidFill>
          <a:ln w="12700">
            <a:solidFill>
              <a:srgbClr val="D6282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447288" y="352958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mise à jour GPT-4o par OpenAI - comportement légèrement différent. Vos prompts optimisés pour l'ancienne version deviennent sous-optimaux.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4496" y="205740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254496" y="2057400"/>
            <a:ext cx="2743200" cy="347472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45936" y="2057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de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1656" y="2468880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composant upstream change imperceptiblement : prompt template, chunking du RAG, normalisation des données. Le modèle reçoit des entrées différentes.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54496" y="3493008"/>
            <a:ext cx="2743200" cy="18288"/>
          </a:xfrm>
          <a:prstGeom prst="rect">
            <a:avLst/>
          </a:prstGeom>
          <a:solidFill>
            <a:srgbClr val="2E5157">
              <a:alpha val="40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391656" y="3529584"/>
            <a:ext cx="257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un dev change le découpage des documents de 500 → 1000 tokens. Le retrieval se dégrade. TTFT +40%. Personne ne fait le lien.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exique LLM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ectionBg"/>
          <p:cNvSpPr/>
          <p:nvPr/>
        </p:nvSpPr>
        <p:spPr>
          <a:xfrm>
            <a:off x="457200" y="137160"/>
            <a:ext cx="137160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ectionLabel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b="1" dirty="0">
                <a:solidFill>
                  <a:srgbClr val="FFFFFF"/>
                </a:solidFill>
                <a:latin typeface="Calibri" pitchFamily="34" charset="0"/>
              </a:rPr>
              <a:t>LEXIQUE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283464"/>
            <a:ext cx="822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dirty="0">
                <a:solidFill>
                  <a:srgbClr val="1A2E35"/>
                </a:solidFill>
                <a:latin typeface="Calibri" pitchFamily="34" charset="0"/>
              </a:rPr>
              <a:t>Avant de commencer : les termes clés</a:t>
            </a:r>
          </a:p>
        </p:txBody>
      </p:sp>
      <p:sp>
        <p:nvSpPr>
          <p:cNvPr id="6" name="Subtitle"/>
          <p:cNvSpPr/>
          <p:nvPr/>
        </p:nvSpPr>
        <p:spPr>
          <a:xfrm>
            <a:off x="457200" y="690000"/>
            <a:ext cx="82296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i="1" dirty="0">
                <a:solidFill>
                  <a:srgbClr val="6B8A90"/>
                </a:solidFill>
                <a:latin typeface="Calibri" pitchFamily="34" charset="0"/>
              </a:rPr>
              <a:t>9 concepts pour lire ce talk sans dictionnaire</a:t>
            </a:r>
          </a:p>
        </p:txBody>
      </p:sp>
      <p:sp>
        <p:nvSpPr>
          <p:cNvPr id="10" name="Card1Bg"/>
          <p:cNvSpPr/>
          <p:nvPr/>
        </p:nvSpPr>
        <p:spPr>
          <a:xfrm>
            <a:off x="457200" y="92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Card1Hdr"/>
          <p:cNvSpPr/>
          <p:nvPr/>
        </p:nvSpPr>
        <p:spPr>
          <a:xfrm>
            <a:off x="457200" y="920000"/>
            <a:ext cx="2667000" cy="27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Card1Term"/>
          <p:cNvSpPr/>
          <p:nvPr/>
        </p:nvSpPr>
        <p:spPr>
          <a:xfrm>
            <a:off x="502200" y="92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LLM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Large Language Model</a:t>
            </a:r>
          </a:p>
        </p:txBody>
      </p:sp>
      <p:sp>
        <p:nvSpPr>
          <p:cNvPr id="13" name="Card1Def"/>
          <p:cNvSpPr/>
          <p:nvPr/>
        </p:nvSpPr>
        <p:spPr>
          <a:xfrm>
            <a:off x="502200" y="119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Modèle entraîné sur des milliards de textes pour prédire le token suivant. Il génère des réponses mais il ne “comprend” pas.</a:t>
            </a:r>
          </a:p>
        </p:txBody>
      </p:sp>
      <p:sp>
        <p:nvSpPr>
          <p:cNvPr id="20" name="Card2Bg"/>
          <p:cNvSpPr/>
          <p:nvPr/>
        </p:nvSpPr>
        <p:spPr>
          <a:xfrm>
            <a:off x="3238500" y="92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Card2Hdr"/>
          <p:cNvSpPr/>
          <p:nvPr/>
        </p:nvSpPr>
        <p:spPr>
          <a:xfrm>
            <a:off x="3238500" y="920000"/>
            <a:ext cx="2667000" cy="27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Card2Term"/>
          <p:cNvSpPr/>
          <p:nvPr/>
        </p:nvSpPr>
        <p:spPr>
          <a:xfrm>
            <a:off x="3283500" y="92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Token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≈ ¾ de mot</a:t>
            </a:r>
          </a:p>
        </p:txBody>
      </p:sp>
      <p:sp>
        <p:nvSpPr>
          <p:cNvPr id="23" name="Card2Def"/>
          <p:cNvSpPr/>
          <p:nvPr/>
        </p:nvSpPr>
        <p:spPr>
          <a:xfrm>
            <a:off x="3283500" y="119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Unité de traitement d’un LLM. Coût et latence se mesurent en tokens. Une page ≈ 750 tokens.</a:t>
            </a:r>
          </a:p>
        </p:txBody>
      </p:sp>
      <p:sp>
        <p:nvSpPr>
          <p:cNvPr id="30" name="Card3Bg"/>
          <p:cNvSpPr/>
          <p:nvPr/>
        </p:nvSpPr>
        <p:spPr>
          <a:xfrm>
            <a:off x="6019800" y="92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Card3Hdr"/>
          <p:cNvSpPr/>
          <p:nvPr/>
        </p:nvSpPr>
        <p:spPr>
          <a:xfrm>
            <a:off x="6019800" y="920000"/>
            <a:ext cx="2667000" cy="270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Card3Term"/>
          <p:cNvSpPr/>
          <p:nvPr/>
        </p:nvSpPr>
        <p:spPr>
          <a:xfrm>
            <a:off x="6064800" y="92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TTFT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Time-To-First-Token</a:t>
            </a:r>
          </a:p>
        </p:txBody>
      </p:sp>
      <p:sp>
        <p:nvSpPr>
          <p:cNvPr id="33" name="Card3Def"/>
          <p:cNvSpPr/>
          <p:nvPr/>
        </p:nvSpPr>
        <p:spPr>
          <a:xfrm>
            <a:off x="6064800" y="119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Temps entre la question et le 1er mot de réponse. Indicateur clé de la latence perçue par l’utilisateur.</a:t>
            </a:r>
          </a:p>
        </p:txBody>
      </p:sp>
      <p:sp>
        <p:nvSpPr>
          <p:cNvPr id="40" name="Card4Bg"/>
          <p:cNvSpPr/>
          <p:nvPr/>
        </p:nvSpPr>
        <p:spPr>
          <a:xfrm>
            <a:off x="457200" y="208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Card4Hdr"/>
          <p:cNvSpPr/>
          <p:nvPr/>
        </p:nvSpPr>
        <p:spPr>
          <a:xfrm>
            <a:off x="457200" y="2080000"/>
            <a:ext cx="2667000" cy="270000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Card4Term"/>
          <p:cNvSpPr/>
          <p:nvPr/>
        </p:nvSpPr>
        <p:spPr>
          <a:xfrm>
            <a:off x="502200" y="208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RAG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Retrieval-Augmented Generation</a:t>
            </a:r>
          </a:p>
        </p:txBody>
      </p:sp>
      <p:sp>
        <p:nvSpPr>
          <p:cNvPr id="43" name="Card4Def"/>
          <p:cNvSpPr/>
          <p:nvPr/>
        </p:nvSpPr>
        <p:spPr>
          <a:xfrm>
            <a:off x="502200" y="235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Architecture qui enrichit le prompt avec des documents récupérés dynamiquement. Le modèle sait chercher avant de répondre.</a:t>
            </a:r>
          </a:p>
        </p:txBody>
      </p:sp>
      <p:sp>
        <p:nvSpPr>
          <p:cNvPr id="50" name="Card5Bg"/>
          <p:cNvSpPr/>
          <p:nvPr/>
        </p:nvSpPr>
        <p:spPr>
          <a:xfrm>
            <a:off x="3238500" y="208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Card5Hdr"/>
          <p:cNvSpPr/>
          <p:nvPr/>
        </p:nvSpPr>
        <p:spPr>
          <a:xfrm>
            <a:off x="3238500" y="2080000"/>
            <a:ext cx="2667000" cy="270000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Card5Term"/>
          <p:cNvSpPr/>
          <p:nvPr/>
        </p:nvSpPr>
        <p:spPr>
          <a:xfrm>
            <a:off x="3283500" y="208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Hallucination</a:t>
            </a:r>
          </a:p>
        </p:txBody>
      </p:sp>
      <p:sp>
        <p:nvSpPr>
          <p:cNvPr id="53" name="Card5Def"/>
          <p:cNvSpPr/>
          <p:nvPr/>
        </p:nvSpPr>
        <p:spPr>
          <a:xfrm>
            <a:off x="3283500" y="235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Réponse confiante mais factuellement fausse. Le modèle invente sans le signaler. C’est son talon d’Achille métier.</a:t>
            </a:r>
          </a:p>
        </p:txBody>
      </p:sp>
      <p:sp>
        <p:nvSpPr>
          <p:cNvPr id="60" name="Card6Bg"/>
          <p:cNvSpPr/>
          <p:nvPr/>
        </p:nvSpPr>
        <p:spPr>
          <a:xfrm>
            <a:off x="6019800" y="208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1" name="Card6Hdr"/>
          <p:cNvSpPr/>
          <p:nvPr/>
        </p:nvSpPr>
        <p:spPr>
          <a:xfrm>
            <a:off x="6019800" y="2080000"/>
            <a:ext cx="2667000" cy="270000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Card6Term"/>
          <p:cNvSpPr/>
          <p:nvPr/>
        </p:nvSpPr>
        <p:spPr>
          <a:xfrm>
            <a:off x="6064800" y="208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Prompt</a:t>
            </a:r>
          </a:p>
        </p:txBody>
      </p:sp>
      <p:sp>
        <p:nvSpPr>
          <p:cNvPr id="63" name="Card6Def"/>
          <p:cNvSpPr/>
          <p:nvPr/>
        </p:nvSpPr>
        <p:spPr>
          <a:xfrm>
            <a:off x="6064800" y="235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L’instruction envoyée au modèle. Sa qualité détermine la qualité de la réponse. L’injection = le manipuler de l’extérieur.</a:t>
            </a:r>
          </a:p>
        </p:txBody>
      </p:sp>
      <p:sp>
        <p:nvSpPr>
          <p:cNvPr id="70" name="Card7Bg"/>
          <p:cNvSpPr/>
          <p:nvPr/>
        </p:nvSpPr>
        <p:spPr>
          <a:xfrm>
            <a:off x="457200" y="324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1" name="Card7Hdr"/>
          <p:cNvSpPr/>
          <p:nvPr/>
        </p:nvSpPr>
        <p:spPr>
          <a:xfrm>
            <a:off x="457200" y="3240000"/>
            <a:ext cx="2667000" cy="270000"/>
          </a:xfrm>
          <a:prstGeom prst="rect">
            <a:avLst/>
          </a:prstGeom>
          <a:solidFill>
            <a:srgbClr val="1A5C63"/>
          </a:solidFill>
          <a:ln w="12700">
            <a:solidFill>
              <a:srgbClr val="1A5C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Card7Term"/>
          <p:cNvSpPr/>
          <p:nvPr/>
        </p:nvSpPr>
        <p:spPr>
          <a:xfrm>
            <a:off x="502200" y="324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Data Drift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entrées différentes</a:t>
            </a:r>
          </a:p>
        </p:txBody>
      </p:sp>
      <p:sp>
        <p:nvSpPr>
          <p:cNvPr id="73" name="Card7Def"/>
          <p:cNvSpPr/>
          <p:nvPr/>
        </p:nvSpPr>
        <p:spPr>
          <a:xfrm>
            <a:off x="502200" y="351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Les données d’entrée changent par rapport à la baseline. Les utilisateurs posent des questions différentes d’il y a 3 mois.</a:t>
            </a:r>
          </a:p>
        </p:txBody>
      </p:sp>
      <p:sp>
        <p:nvSpPr>
          <p:cNvPr id="80" name="Card8Bg"/>
          <p:cNvSpPr/>
          <p:nvPr/>
        </p:nvSpPr>
        <p:spPr>
          <a:xfrm>
            <a:off x="3238500" y="324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1" name="Card8Hdr"/>
          <p:cNvSpPr/>
          <p:nvPr/>
        </p:nvSpPr>
        <p:spPr>
          <a:xfrm>
            <a:off x="3238500" y="3240000"/>
            <a:ext cx="2667000" cy="270000"/>
          </a:xfrm>
          <a:prstGeom prst="rect">
            <a:avLst/>
          </a:prstGeom>
          <a:solidFill>
            <a:srgbClr val="1A5C63"/>
          </a:solidFill>
          <a:ln w="12700">
            <a:solidFill>
              <a:srgbClr val="1A5C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Card8Term"/>
          <p:cNvSpPr/>
          <p:nvPr/>
        </p:nvSpPr>
        <p:spPr>
          <a:xfrm>
            <a:off x="3283500" y="324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Concept Drift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sens obsolète</a:t>
            </a:r>
          </a:p>
        </p:txBody>
      </p:sp>
      <p:sp>
        <p:nvSpPr>
          <p:cNvPr id="83" name="Card8Def"/>
          <p:cNvSpPr/>
          <p:nvPr/>
        </p:nvSpPr>
        <p:spPr>
          <a:xfrm>
            <a:off x="3283500" y="351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Le sens métier change (loi, catalogue). Le modèle répond correctement… à une réalité obsolète.</a:t>
            </a:r>
          </a:p>
        </p:txBody>
      </p:sp>
      <p:sp>
        <p:nvSpPr>
          <p:cNvPr id="90" name="Card9Bg"/>
          <p:cNvSpPr/>
          <p:nvPr/>
        </p:nvSpPr>
        <p:spPr>
          <a:xfrm>
            <a:off x="6019800" y="3240000"/>
            <a:ext cx="2667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762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1" name="Card9Hdr"/>
          <p:cNvSpPr/>
          <p:nvPr/>
        </p:nvSpPr>
        <p:spPr>
          <a:xfrm>
            <a:off x="6019800" y="3240000"/>
            <a:ext cx="2667000" cy="270000"/>
          </a:xfrm>
          <a:prstGeom prst="rect">
            <a:avLst/>
          </a:prstGeom>
          <a:solidFill>
            <a:srgbClr val="1A5C63"/>
          </a:solidFill>
          <a:ln w="12700">
            <a:solidFill>
              <a:srgbClr val="1A5C6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Card9Term"/>
          <p:cNvSpPr/>
          <p:nvPr/>
        </p:nvSpPr>
        <p:spPr>
          <a:xfrm>
            <a:off x="6064800" y="3240000"/>
            <a:ext cx="2622000" cy="27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fr-FR" sz="1200" b="1" dirty="0">
                <a:solidFill>
                  <a:srgbClr val="FFFFFF"/>
                </a:solidFill>
                <a:latin typeface="Calibri" pitchFamily="34" charset="0"/>
              </a:rPr>
              <a:t>Pipeline Drift</a:t>
            </a:r>
            <a:r>
              <a:rPr lang="fr-FR" sz="850" b="0" dirty="0">
                <a:solidFill>
                  <a:srgbClr val="C8DDE0"/>
                </a:solidFill>
                <a:latin typeface="Calibri" pitchFamily="34" charset="0"/>
              </a:rPr>
              <a:t>  chaîne altérée</a:t>
            </a:r>
          </a:p>
        </p:txBody>
      </p:sp>
      <p:sp>
        <p:nvSpPr>
          <p:cNvPr id="93" name="Card9Def"/>
          <p:cNvSpPr/>
          <p:nvPr/>
        </p:nvSpPr>
        <p:spPr>
          <a:xfrm>
            <a:off x="6064800" y="3510000"/>
            <a:ext cx="2622000" cy="780000"/>
          </a:xfrm>
          <a:prstGeom prst="rect">
            <a:avLst/>
          </a:prstGeom>
          <a:noFill/>
          <a:ln/>
        </p:spPr>
        <p:txBody>
          <a:bodyPr wrap="square" lIns="91440" tIns="60960" rIns="91440" bIns="60960" rtlCol="0" anchor="t"/>
          <a:lstStyle/>
          <a:p>
            <a:pPr marL="0" indent="0">
              <a:buNone/>
            </a:pPr>
            <a:r>
              <a:rPr lang="fr-FR" sz="950" dirty="0">
                <a:solidFill>
                  <a:srgbClr val="1A2E35"/>
                </a:solidFill>
                <a:latin typeface="Calibri" pitchFamily="34" charset="0"/>
              </a:rPr>
              <a:t>Un composant change en silence (chunking RAG, template, provider). Le modèle reçoit des entrées altérées.</a:t>
            </a:r>
          </a:p>
        </p:txBody>
      </p:sp>
      <p:sp>
        <p:nvSpPr>
          <p:cNvPr id="200" name="Footer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800" dirty="0">
                <a:solidFill>
                  <a:srgbClr val="6B8A90"/>
                </a:solidFill>
                <a:latin typeface="Calibri" pitchFamily="34" charset="0"/>
              </a:rPr>
              <a:t>Samuel Desseaux • Erythix • Grafana Meetup Paris • 12/03/2026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"/>
            <a:ext cx="1371600" cy="237744"/>
          </a:xfrm>
          <a:prstGeom prst="rect">
            <a:avLst/>
          </a:prstGeom>
          <a:solidFill>
            <a:srgbClr val="D62828">
              <a:alpha val="85000"/>
            </a:srgbClr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29883" y="318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questions à se poser face à une dégradation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type de dérive a une cause, un signal, une réponse différente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02920" y="93268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les données changent 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234440"/>
            <a:ext cx="1325880" cy="8869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12618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15910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26187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prompts, topics ou intentions des utilisateurs évoluent. Les entrées ne ressemblent plus à ce sur quoi le modèle a été optimisé.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1261872"/>
            <a:ext cx="18288" cy="804672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577840" y="12618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57784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longueur moyenne des prompts | Topics inhabituels | Distribution tokens différente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77840" y="17190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 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77840" y="186537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: moyenne glissante du volume de tokens • Alerte si dérive (PSI) dépasse le seuil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24028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8412480" cy="3200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2920" y="225856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le contexte métier change ?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1325880" cy="8869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25877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29169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258775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semblent normales, mais leur sens a changé. Nouvelle réglementation, nouveau produit, nouveau contexte. Le modèle répond correctement... à une réalité obsolète.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0" y="2587752"/>
            <a:ext cx="18288" cy="804672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577840" y="25877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score qualité des réponses | ↗ refus utilisateurs | Feedback négatif sans erreur technique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77840" y="3044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 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77840" y="31912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score qualité (LLM-as-juge) • Alerte sur dérive semaine à semaine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566160"/>
            <a:ext cx="8412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65760" y="3566160"/>
            <a:ext cx="8412480" cy="320040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02920" y="3584448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quelque chose a changé dans la chaîne technique ?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886200"/>
            <a:ext cx="1325880" cy="886968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65760" y="39136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5760" y="424281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391363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composant change sans annonce : prompt template, chunking RAG, mise à jour provider, encoding des données. Le modèle reçoit des entrées altérées sans que personne le sache.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0" y="3913632"/>
            <a:ext cx="18288" cy="804672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577840" y="39136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7784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Latence 1er token (TTFT) | Pic de taux d'erreur | Volume de tokens anormal | Score de récupération en baisse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77840" y="43342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 :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77840" y="451713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thermique latence 1er token (TTFT) • Traces Phoenix : span de récupération RAG • Alerte taux d'erreur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F77F00">
              <a:alpha val="85000"/>
            </a:srgbClr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48840" y="62187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coûte vraiment sans observabilité LLM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conséquences concrètes d'un LLM non surveillé en production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932688"/>
            <a:ext cx="2011680" cy="38404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opérationnel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3891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facture LLM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input anormalement long, boucle d'appels non détectée. Sans alerte coût, la facture explose en silence.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560320" y="932688"/>
            <a:ext cx="201168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63347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3347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63347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perçue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8892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65176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lentes (TTFT &gt; 3s), hallucinations, incohérences. Les utilisateurs arrêtent de faire confiance avant de se plaindre.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54880" y="932688"/>
            <a:ext cx="2011680" cy="38404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2803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réglementaire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482803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2025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4632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systèmes à haut risque imposent monitoring continu, traçabilité et documentation. Sans obs LLM, vous êtes en défaut de conformité.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49440" y="932688"/>
            <a:ext cx="2011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6949440" y="932688"/>
            <a:ext cx="2011680" cy="384048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022592" y="93268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correction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22592" y="1389888"/>
            <a:ext cx="1865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7022592" y="205740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cher à corriger tard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78040" y="2359152"/>
            <a:ext cx="1554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040880" y="242316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une dérive en 2 min vs la découvrir après 2 semaines via le service client : coût de correction × 10, image de marque dégradée.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44751" y="75903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: mesurer ce qui compte vraiment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métriques, chacune liée à un type de dérive et un impact business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960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détectée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960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business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492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dit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188720"/>
            <a:ext cx="841248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65760" y="12618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1261872"/>
            <a:ext cx="10972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30352" y="13075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16093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Time-to-First-Token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0" y="1426464"/>
            <a:ext cx="1371600" cy="256032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011680" y="1426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14264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13167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avant le 1er mot de réponse. Cible : &lt; 500ms P99. Spike = pipeline drift ou provider dégradé.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1975104"/>
            <a:ext cx="8412480" cy="658368"/>
          </a:xfrm>
          <a:prstGeom prst="rect">
            <a:avLst/>
          </a:prstGeom>
          <a:solidFill>
            <a:srgbClr val="F7FBFC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65760" y="1975104"/>
            <a:ext cx="109728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30352" y="202082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23225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/ Minute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0" y="2139696"/>
            <a:ext cx="1371600" cy="256032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011680" y="2139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66160" y="213969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&amp; budget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20299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provider. Augmentation anormale = prompts plus longs = data drift ou injection.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6883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365760" y="2688336"/>
            <a:ext cx="109728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30352" y="27340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$/req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" y="30358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requête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11680" y="2852928"/>
            <a:ext cx="1371600" cy="256032"/>
          </a:xfrm>
          <a:prstGeom prst="rect">
            <a:avLst/>
          </a:prstGeom>
          <a:solidFill>
            <a:srgbClr val="F77F00">
              <a:alpha val="15000"/>
            </a:srgbClr>
          </a:solidFill>
          <a:ln w="12700">
            <a:solidFill>
              <a:srgbClr val="F77F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2011680" y="28529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66160" y="28529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direct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7492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 inexpliqué = signal fort. Ratio coût/valeur par usecase à monitorer par modèle.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401568"/>
            <a:ext cx="8412480" cy="658368"/>
          </a:xfrm>
          <a:prstGeom prst="rect">
            <a:avLst/>
          </a:prstGeom>
          <a:solidFill>
            <a:srgbClr val="F7FBFC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65760" y="3401568"/>
            <a:ext cx="109728" cy="658368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30352" y="34472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" y="3749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qualité réponse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0" y="3566160"/>
            <a:ext cx="1371600" cy="256032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01168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66160" y="356616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 &amp; confiance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34564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automatisé. Drift = concept drift ou mise à jour silencieuse du provider.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65760" y="4114800"/>
            <a:ext cx="109728" cy="6583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30352" y="4160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Err%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0352" y="44622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d'erreur LLM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011680" y="4279392"/>
            <a:ext cx="1371600" cy="256032"/>
          </a:xfrm>
          <a:prstGeom prst="rect">
            <a:avLst/>
          </a:prstGeom>
          <a:solidFill>
            <a:srgbClr val="D62828">
              <a:alpha val="15000"/>
            </a:srgbClr>
          </a:solidFill>
          <a:ln w="12700">
            <a:solidFill>
              <a:srgbClr val="D6282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2011680" y="42793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66160" y="4279392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74920" y="416966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Timeouts, refus safety, JSON invalide, context window saturé. Chaque type = cause différente.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920000" y="146304"/>
            <a:ext cx="676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en 3 couches : une méthode systématique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une anomalie, commencez toujours par la couche 1 - puis montez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914400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914400"/>
            <a:ext cx="1417320" cy="1234440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566928" y="1024128"/>
            <a:ext cx="502920" cy="502920"/>
          </a:xfrm>
          <a:prstGeom prst="ellipse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66928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15727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du pipeline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18288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technique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9601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a-t-il un problème infra ou de pipeline 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0" y="1207008"/>
            <a:ext cx="6858000" cy="13716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901952" y="12435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classique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01952" y="141732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Latence collecteur OTel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01952" y="15910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Débit ingestion VictoriaMetrics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901952" y="17647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Erreurs collector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01952" y="193852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Saturation réseau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45152" y="1243584"/>
            <a:ext cx="22860" cy="84124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0" y="1243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contexte LLM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417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TTFT &amp; latence P99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15910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count vs baseline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7647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OTel Collector throughput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1938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Grafana query performance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267712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320040" y="2267712"/>
            <a:ext cx="1417320" cy="1234440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566928" y="23774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6692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84048" y="292608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des données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31821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statistique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828800" y="23134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d'entrée ont-elles changé ?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828800" y="2560320"/>
            <a:ext cx="6858000" cy="13716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901952" y="25968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classique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01952" y="27706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Valeurs manquantes, outliers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901952" y="2944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Mutations de schéma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01952" y="311810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drift (PSI, KS-test)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901952" y="329184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Déséquilibres catégoriels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45152" y="2596896"/>
            <a:ext cx="22860" cy="84124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754880" y="2596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contexte LLM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54880" y="27706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Distribution longueur prompt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9443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Token input anomalies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31181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Topics inhabituels (clustering)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32918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Détection PII / injection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3621024"/>
            <a:ext cx="8503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320040" y="3621024"/>
            <a:ext cx="1417320" cy="1234440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566928" y="373075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66928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84048" y="427939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du modèle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" y="453542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métier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828800" y="36667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répond-il de façon pertinente et fiable ?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828800" y="3913632"/>
            <a:ext cx="6858000" cy="13716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1901952" y="39502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classique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901952" y="4123944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F1 / AUC / RMSE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901952" y="42976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Calibration, dérive des scores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901952" y="447141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Concept drift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901952" y="464515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Équilibre des prédictions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45152" y="3950208"/>
            <a:ext cx="22860" cy="84124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754880" y="39502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contexte LLM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754880" y="41239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Eval score (LLM-as-judge)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754880" y="4297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Hallucination rate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4754880" y="447141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Relevance &amp; coherence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54880" y="46451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Drift inter-versions prompt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57400" y="914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4 briques open source, zéro vendor lock-in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brique répond à une couche du diagnostic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841248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2920" y="932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LLM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46120" y="10424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LangChain, LlamaIndex, vLLM, Ollama, Azure OpenAI…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490472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594360"/>
          </a:xfrm>
          <a:prstGeom prst="rect">
            <a:avLst/>
          </a:prstGeom>
          <a:solidFill>
            <a:srgbClr val="005F73"/>
          </a:solidFill>
          <a:ln w="12700">
            <a:solidFill>
              <a:srgbClr val="005F7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1609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719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 • Arize Phoenix • otel-llm-instruments (3 lignes de code)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2167128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249424"/>
            <a:ext cx="8412480" cy="594360"/>
          </a:xfrm>
          <a:prstGeom prst="rect">
            <a:avLst/>
          </a:prstGeom>
          <a:solidFill>
            <a:srgbClr val="14746C"/>
          </a:solidFill>
          <a:ln w="12700">
            <a:solidFill>
              <a:srgbClr val="14746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&amp; STOCKAGE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Prometheus direct → VictoriaMetrics (métriques) + OTel Collector → Loki (logs + traces)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2843784"/>
            <a:ext cx="548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8412480" cy="594360"/>
          </a:xfrm>
          <a:prstGeom prst="rect">
            <a:avLst/>
          </a:prstGeom>
          <a:solidFill>
            <a:srgbClr val="1A3D3A"/>
          </a:solidFill>
          <a:ln w="12700">
            <a:solidFill>
              <a:srgbClr val="1A3D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29626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&amp; ALERTING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30723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(dashboards) • </a:t>
            </a:r>
            <a:r>
              <a:rPr lang="en-US" sz="1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8412480" cy="1024128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8412480" cy="292608"/>
          </a:xfrm>
          <a:prstGeom prst="rect">
            <a:avLst/>
          </a:prstGeom>
          <a:solidFill>
            <a:srgbClr val="028090">
              <a:alpha val="90000"/>
            </a:srgbClr>
          </a:solidFill>
          <a:ln w="12700">
            <a:solidFill>
              <a:srgbClr val="028090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 Source • Souveraineté des données • On-premise ou cloud • AI Act compliant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données LLM chez un SaaS tiers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4005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air-gap (contexte industriel)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4005072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: 10-20× moins de RAM que Prometheus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LLM : comment l'observabilité détecte les attaques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L'instrumentation OTel + Phoenix + VictoriaMetrics comme outil de sécurité active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877824"/>
            <a:ext cx="8412480" cy="438912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87782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sécurité d'un LLM ne se surveille pas avec un SIEM classique. Elle se lit dans ses tokens, ses scores, ses traces."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" y="137160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04288" y="13716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observable (Grafana/Phoenix)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25312" y="13716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de détection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06640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Criticité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591056"/>
            <a:ext cx="8430768" cy="22860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47472" y="1618488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02336" y="1655064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04288" y="1709928"/>
            <a:ext cx="109728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304288" y="17099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20440" y="1645920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input spike brutal · Span anormal dans trace Phoenix · Topic shift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25312" y="1655064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traces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VM alert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709928"/>
            <a:ext cx="1298448" cy="23774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406640" y="17099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" y="2055571"/>
            <a:ext cx="8430768" cy="418795"/>
          </a:xfrm>
          <a:prstGeom prst="rect">
            <a:avLst/>
          </a:prstGeom>
          <a:solidFill>
            <a:srgbClr val="F7FBFC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02336" y="2092147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 RAG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(retrieval poisoning)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04288" y="2147011"/>
            <a:ext cx="1097280" cy="237744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304288" y="214701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20440" y="2083003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score chute (Phoenix span) · Eval score effondrement · TTFT stable mais qualité 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25312" y="2092147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eval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Loki logs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06640" y="2147011"/>
            <a:ext cx="1298448" cy="23774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406640" y="2147011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2492654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02336" y="2529230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poisoning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(training data)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04288" y="2584094"/>
            <a:ext cx="1097280" cy="237744"/>
          </a:xfrm>
          <a:prstGeom prst="rect">
            <a:avLst/>
          </a:prstGeom>
          <a:solidFill>
            <a:srgbClr val="B45309">
              <a:alpha val="15000"/>
            </a:srgbClr>
          </a:solidFill>
          <a:ln w="12700">
            <a:solidFill>
              <a:srgbClr val="B4530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304288" y="258409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20440" y="2520086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lent sur eval score · Behavioral shift sur certains topics · PSI élevé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25312" y="2529230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drift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VM time series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06640" y="2584094"/>
            <a:ext cx="1298448" cy="237744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406640" y="258409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47472" y="2929738"/>
            <a:ext cx="8430768" cy="418795"/>
          </a:xfrm>
          <a:prstGeom prst="rect">
            <a:avLst/>
          </a:prstGeom>
          <a:solidFill>
            <a:srgbClr val="F7FBFC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02336" y="2966314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&amp; bypass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04288" y="3021178"/>
            <a:ext cx="1097280" cy="23774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304288" y="302117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20440" y="2957170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 eval spike (Phoenix) · Réponses hors distribution · Content policy violations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925312" y="2966314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eval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(toxicité)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06640" y="3021178"/>
            <a:ext cx="1298448" cy="237744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7406640" y="302117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7472" y="3366821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02336" y="3403397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outputs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304288" y="3458261"/>
            <a:ext cx="1097280" cy="237744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04288" y="345826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520440" y="3394253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 anomalie (très long) · PII détecté en sortie (Loki) · Pattern répétitif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925312" y="3403397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+ OTel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sampling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06640" y="3458261"/>
            <a:ext cx="1298448" cy="237744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7406640" y="3458261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47472" y="3803904"/>
            <a:ext cx="8430768" cy="418795"/>
          </a:xfrm>
          <a:prstGeom prst="rect">
            <a:avLst/>
          </a:prstGeom>
          <a:solidFill>
            <a:srgbClr val="F7FBFC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02336" y="3840480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(provider/dépendances)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04288" y="3895344"/>
            <a:ext cx="1097280" cy="237744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304288" y="38953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LLM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20440" y="3831336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fingerprint shift soudain · Eval score rupture après update · TTFT change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25312" y="3840480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eval drift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Phoenix baseline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06640" y="3895344"/>
            <a:ext cx="1298448" cy="237744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7406640" y="389534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47472" y="4240987"/>
            <a:ext cx="84307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402336" y="4277563"/>
            <a:ext cx="182880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theft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inversion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304288" y="4332427"/>
            <a:ext cx="1097280" cy="237744"/>
          </a:xfrm>
          <a:prstGeom prst="rect">
            <a:avLst/>
          </a:prstGeom>
          <a:solidFill>
            <a:srgbClr val="5B2D8E">
              <a:alpha val="15000"/>
            </a:srgbClr>
          </a:solidFill>
          <a:ln w="12700">
            <a:solidFill>
              <a:srgbClr val="5B2D8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2304288" y="4332427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520440" y="4268419"/>
            <a:ext cx="2304288" cy="363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requêtes très similaires (scraping) · Volume requêtes anormal · User anomaly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925312" y="4277563"/>
            <a:ext cx="1389888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rate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+ logs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06640" y="4332427"/>
            <a:ext cx="1298448" cy="237744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7406640" y="4332427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973766" y="594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: instrumenter en 3 lignes de code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standard CNCF - agnostique modèle, agnostique cloud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402336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896112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896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signaux instrumentés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316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1636776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31520" y="15910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llm.token.input / output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1883664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" y="18379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llm.request.latency (histogram)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2130552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3152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llm.request.cost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37744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3152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llm.error.rate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651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297180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31520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complet prompt → réponse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3218688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31520" y="31729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RAG, tool calls, agents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3465576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31520" y="3419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logs ↔ traces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3712464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31520" y="36667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score attaché au span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3820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01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31520" y="397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sanitisé (PII masqué)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16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731520" y="412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+ score évaluateur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4360" y="431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31520" y="427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+ version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" y="4465720"/>
            <a:ext cx="45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31520" y="4420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session &amp; tenant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0" y="896112"/>
            <a:ext cx="4206240" cy="3794760"/>
          </a:xfrm>
          <a:prstGeom prst="rect">
            <a:avLst/>
          </a:prstGeom>
          <a:solidFill>
            <a:srgbClr val="1A2E35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572000" y="896112"/>
            <a:ext cx="4206240" cy="379476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09160" y="932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lignes pour commencer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63440" y="123444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opentelemetry import trace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140817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arize.otel import register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63440" y="158191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175564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register( # 1 ligne pour tout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192938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project_name='mon-llm',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210312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endpoint='http://otel-col:4317'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63440" y="227685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63440" y="245059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63440" y="262432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8A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Ensuite, tracer manuellement 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63440" y="279806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= trace.get_tracer(__name__)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63440" y="297180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tracer.start_as_current_span(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63440" y="314553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"llm.call") as span: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663440" y="331927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span.set_attribute("llm.model",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63440" y="349300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63440" y="366674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span.set_attribute("llm.tokens",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63440" y="3840480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D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token_count)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921727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VictoriaMetrics : les dashboards LLM essentiels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VictoriaMetrics plutôt que Prometheus seul 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3931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896112"/>
            <a:ext cx="3931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896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- pourquoi 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10-20×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RAM que Prometheus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739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MetricsQL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expressif que PromQL pour l'analyse temporelle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494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sans explosion de cardinalité (user_id, session_id...)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cluster, isolation par projet / client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896112"/>
            <a:ext cx="42976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480560" y="896112"/>
            <a:ext cx="429768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0" y="896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panels Grafana indispensables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17720" y="12984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thermique latence 1er token (TTFT) - révèle les outliers que la moyenne cache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17720" y="17282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: coût cumulé 24h par modèle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21579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: volume moyen de tokens glissant (détecte la dérive data)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17720" y="25877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: hallucination rate par modèle (concept drift)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3017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Jauge : score qualité moyen (1h glissante) vs baseline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8412480" cy="1353312"/>
          </a:xfrm>
          <a:prstGeom prst="rect">
            <a:avLst/>
          </a:prstGeom>
          <a:solidFill>
            <a:srgbClr val="1A2E35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3456432"/>
            <a:ext cx="8412480" cy="1353312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48640" y="349300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A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Requêtes MetricsQL clés 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712464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by (model) (rate(llm_cost_usd_total[2m]) * 60) # coût USD/min par modèle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395020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histogram_quantile(0.99, rate(llm_ttft_seconds_bucket{model=~"$model"}[2m])) # TTFT P99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187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avg(llm_eval_score) &lt; 0.7 # alerte concept drift — avg(llm_hallucination_rate) &gt; 0.1 # taux hallucination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075688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: voir l'intérieur des requêtes LLM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4e pilier - traces et évaluation qualité, intégrés à Grafana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96112"/>
            <a:ext cx="8412480" cy="566928"/>
          </a:xfrm>
          <a:prstGeom prst="rect">
            <a:avLst/>
          </a:prstGeom>
          <a:solidFill>
            <a:srgbClr val="E8F4F6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89611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GPU à 0% ne vous dit pas si votre LLM hallucine. Phoenix si."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arborescentes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9842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devient un arbre de spans : retrieval, reranking, appel LLM, tool calls. Vous voyez exactement où le temps est passé et où la qualité se dégrade.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2743200" cy="1828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réel : reranking prenait 6s sur 8s totaux. Invisible dans Grafana. Évident dans Phoenix.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157276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310128" y="1572768"/>
            <a:ext cx="274320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01568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automatisé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9856" y="19842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évalue chaque réponse automatiquement : hallucination, pertinence, toxicité, exactitude. Ces scores deviennent des métriques Prometheus → dashboard Grafana.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3072384"/>
            <a:ext cx="2743200" cy="18288"/>
          </a:xfrm>
          <a:prstGeom prst="rect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419856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: 5 min. Pas de ground truth nécessaire pour commencer. Affine avec ton domain.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4496" y="1572768"/>
            <a:ext cx="27432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6254496" y="1572768"/>
            <a:ext cx="2743200" cy="347472"/>
          </a:xfrm>
          <a:prstGeom prst="rect">
            <a:avLst/>
          </a:prstGeom>
          <a:solidFill>
            <a:srgbClr val="2E5157"/>
          </a:solidFill>
          <a:ln w="12700">
            <a:solidFill>
              <a:srgbClr val="2E515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345936" y="1572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référence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4224" y="1984248"/>
            <a:ext cx="2523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golden dataset stable définit votre baseline qualité. Tout drift est mesuré par rapport à lui. C'est votre photographie de référence avant déploiement.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54496" y="3072384"/>
            <a:ext cx="2743200" cy="18288"/>
          </a:xfrm>
          <a:prstGeom prst="rect">
            <a:avLst/>
          </a:prstGeom>
          <a:solidFill>
            <a:srgbClr val="2E5157">
              <a:alpha val="40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364224" y="31272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du dataset = étape 4 de la boucle d'amélioration. Sans baseline, pas de mesure.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8412480" cy="822960"/>
          </a:xfrm>
          <a:prstGeom prst="rect">
            <a:avLst/>
          </a:prstGeom>
          <a:solidFill>
            <a:srgbClr val="EFF8F9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385876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Grafana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expose /metrics Prometheus natif → scraping VictoriaMetrics → dashboard unifié infra + qualité.</a:t>
            </a:r>
            <a:r>
              <a:rPr lang="en-US" sz="105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(offline) ou online (continu) selon criticité.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100146" y="822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LLM : 5 règles par type de dérive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alerte pointe vers une cause - pas juste une valeur seuil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869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une bonne alerte dit quoi faire, pas juste que quelque chose est cassé.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1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100000"/>
            <a:ext cx="914400" cy="6583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1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71600" y="1191440"/>
            <a:ext cx="1005840" cy="228600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371600" y="11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14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1er token (TTFT P99) &gt; 3s sur 5 min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1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 ou fallback vers modèle léger. Vérifier OTel → VM pipeline.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7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1700000"/>
            <a:ext cx="914400" cy="658368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17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71600" y="1791440"/>
            <a:ext cx="1005840" cy="228600"/>
          </a:xfrm>
          <a:prstGeom prst="rect">
            <a:avLst/>
          </a:prstGeom>
          <a:solidFill>
            <a:srgbClr val="2E5157">
              <a:alpha val="15000"/>
            </a:srgbClr>
          </a:solidFill>
          <a:ln w="12700">
            <a:solidFill>
              <a:srgbClr val="2E515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371600" y="17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0" y="20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&gt; 5% sur 30s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0600" y="17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Incident immédiat. Rollback de la version du prompt template.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3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65760" y="2300000"/>
            <a:ext cx="914400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65760" y="23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371600" y="2391440"/>
            <a:ext cx="100584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1371600" y="23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71600" y="26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moyen de tokens × 1.5 la baseline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23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Probable data drift ou injection. Audit des inputs. Alert PO.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9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65760" y="2900000"/>
            <a:ext cx="914400" cy="65836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29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371600" y="2991440"/>
            <a:ext cx="1005840" cy="22860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1371600" y="29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71600" y="32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qualité moyen (fenêtre 1h) &lt; 0.7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00600" y="29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Concept drift ou provider mis à jour. Lancer revue qualité.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500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65760" y="3500000"/>
            <a:ext cx="914400" cy="65836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65760" y="350000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371600" y="3591440"/>
            <a:ext cx="1005840" cy="228600"/>
          </a:xfrm>
          <a:prstGeom prst="rect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371600" y="3591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371600" y="3820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de cardinalité des métriques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800600" y="35731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Label dynamique détecté (user_id ?) - refactorer les labels.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160000"/>
            <a:ext cx="8412480" cy="27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: n'alertez pas sur les métriques GPU pour juger de la qualité LLM - aucune corrélation directe.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926080" y="457200"/>
            <a:ext cx="32918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926080" y="457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problème détecté à la cause identifiée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09928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FastAPI + prometheus_client - métriques LLM-native (TTFT, eval, hallucination, coût)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50000" y="1755648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50000" y="1755648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230428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580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322576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live : scrape /metrics → VictoriaMetrics (5s) + OTel Collector → Loki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0000" y="2368296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950000" y="2368296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85800" y="291693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935224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: TTFT, eval score, hallucination rate, coût/qualité, satisfaction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50000" y="2980944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50000" y="2980944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5800" y="352958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858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547872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: trace complète RAG + eval score vs golden dataset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50000" y="3593592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50000" y="3593592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85800" y="41422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8580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160520"/>
            <a:ext cx="420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3 dérives (concept, pipeline, data) → annotations Grafana → alertes → reset baseline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50000" y="4206240"/>
            <a:ext cx="920000" cy="256032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950000" y="4206240"/>
            <a:ext cx="920000" cy="256032"/>
          </a:xfrm>
          <a:prstGeom prst="rect">
            <a:avLst/>
          </a:prstGeom>
          <a:noFill/>
          <a:ln w="19050">
            <a:solidFill>
              <a:srgbClr val="02809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Badge_bg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Badge_text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920000" y="164592"/>
            <a:ext cx="630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terrain : deux cas réels, de la détection à la solution</a:t>
            </a:r>
            <a:endParaRPr lang="en-US" sz="2100" dirty="0"/>
          </a:p>
        </p:txBody>
      </p:sp>
      <p:sp>
        <p:nvSpPr>
          <p:cNvPr id="52" name="Subtitle"/>
          <p:cNvSpPr/>
          <p:nvPr/>
        </p:nvSpPr>
        <p:spPr>
          <a:xfrm>
            <a:off x="457200" y="640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stacks identiques, deux dérives différentes — détectées en moins de 2 min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000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605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114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 - RAG sur documentation interne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9844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Drift (RAG chunking)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 P99 &gt; 8s - taux d'abandon x3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des sessions abandonnées. SLA non tenu.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TTFT + trace Phoenix → span reranking = 6s/8s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500→200 tokens, reranker léger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→ 1.2s. SLA retrouvé. Coût reranking -60%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1605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0" y="8686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B - Agent LLM, production industrielle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29844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(prompt injection)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86537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LLM × 4 en 2 semaines, sans alerte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43230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Surcoût mensuel +12K€. Risque sécurité.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299923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 rolling avg anomaly + Phoenix toxicity eval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356616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input + alerte coût/heure + token budget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13308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en &lt; 2 min. Coût normalisé J+1.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complète et pourquoi l'AI Act la rend obligatoire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fiable est une IA surveillée. En continu.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94360" y="9144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Métriques, traces, logs.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l'anomalie avant l'utilisateur.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12848" y="1783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532888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807208" y="91440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807208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96896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24328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Qualifier : Data, Concept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Pipeline drift ? Segmenter.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425696" y="1783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45736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5020056" y="9144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020056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09744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37176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update, fine-tuning,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fix, rollback modèle.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38544" y="17830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58584" y="86868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232904" y="914400"/>
            <a:ext cx="548640" cy="54864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232904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22592" y="153619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50024" y="1938528"/>
            <a:ext cx="1847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dataset mis à jour.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baseline. Retest.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0040" y="3310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Processus permanent - l'observabilité n'est pas un projet, c'est une pratique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3703320"/>
            <a:ext cx="8503920" cy="1143000"/>
          </a:xfrm>
          <a:prstGeom prst="rect">
            <a:avLst/>
          </a:prstGeom>
          <a:solidFill>
            <a:srgbClr val="F8F0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20040" y="3703320"/>
            <a:ext cx="850392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(UE) - L'observabilité comme obligation légale pour les systèmes à haut risque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0690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:</a:t>
            </a: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continu, traçabilité des décisions, détection des dérives, journalisation.</a:t>
            </a: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stack répond directement à ces exigences - sans SaaS tiers, données souveraines, auditables.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Badge_bg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Badge_text"/>
          <p:cNvSpPr/>
          <p:nvPr/>
        </p:nvSpPr>
        <p:spPr>
          <a:xfrm>
            <a:off x="457200" y="182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920000" y="164592"/>
            <a:ext cx="630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 pour commencer dès demain matin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est indépendante - commencez par celle qui vous fait le moins peur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C8DDE0"/>
          </a:solidFill>
          <a:ln w="12700">
            <a:solidFill>
              <a:srgbClr val="C8DD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Desseaux • Erythix • Grafana Meetup Paris • 12/03/2026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9601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9418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Instrumenter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987552"/>
            <a:ext cx="1078992" cy="219456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834640" y="9875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Pipeline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005072" y="932688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 + arize-otel auto-instrument. 3 lignes. Tourne en local d'abord.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664208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72821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1148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Collecter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1755648"/>
            <a:ext cx="1078992" cy="219456"/>
          </a:xfrm>
          <a:prstGeom prst="rect">
            <a:avLst/>
          </a:prstGeom>
          <a:solidFill>
            <a:srgbClr val="2E5157">
              <a:alpha val="12000"/>
            </a:srgbClr>
          </a:solidFill>
          <a:ln w="12700">
            <a:solidFill>
              <a:srgbClr val="2E515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834640" y="175564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Pipeline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005072" y="1700784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: VictoriaMetrics + Loki + Grafana. Lab complet : </a:t>
            </a:r>
            <a:r>
              <a:rPr lang="en-US" sz="105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/erythix4/</a:t>
            </a:r>
            <a:r>
              <a:rPr lang="en-US" sz="1050" dirty="0" err="1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aiobs</a:t>
            </a: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43230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11480" y="249631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24780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Visualiser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2523744"/>
            <a:ext cx="1078992" cy="219456"/>
          </a:xfrm>
          <a:prstGeom prst="rect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834640" y="252374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Pipeline+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05072" y="2468880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Grafana importable en 1 clic. 5 panels LLM essentiels. Heatmap TTFT en priorité.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20040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11480" y="3264408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114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3246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Évaluer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34640" y="3291840"/>
            <a:ext cx="1078992" cy="219456"/>
          </a:xfrm>
          <a:prstGeom prst="rect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834640" y="329184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Modèle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005072" y="3236976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local (pip install + 1 commande). Créer un golden dataset de 50 exemples. C'est suffisant pour commencer.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396849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11480" y="4032504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1148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4014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Alerter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34640" y="4059936"/>
            <a:ext cx="1078992" cy="219456"/>
          </a:xfrm>
          <a:prstGeom prst="rect">
            <a:avLst/>
          </a:prstGeom>
          <a:solidFill>
            <a:srgbClr val="F77F00">
              <a:alpha val="12000"/>
            </a:srgbClr>
          </a:solidFill>
          <a:ln w="12700">
            <a:solidFill>
              <a:srgbClr val="F77F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834640" y="405993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Toutes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005072" y="4005072"/>
            <a:ext cx="4663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règles minimales : TTFT P99 (pipeline), eval score rolling (concept), token count anomaly (data).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38404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solidFill>
            <a:srgbClr val="E8F4F6"/>
          </a:solidFill>
          <a:ln w="12700">
            <a:solidFill>
              <a:srgbClr val="2D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solidFill>
            <a:srgbClr val="F4F8F9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40080" y="1335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dérive LLM : Data / Concept / Pipeline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335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Coût, expérience, sécurité, conformité AI Act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3350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→ VictoriaMetrics → Grafana + Phoenix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8229600" cy="1810512"/>
          </a:xfrm>
          <a:prstGeom prst="rect">
            <a:avLst/>
          </a:prstGeom>
          <a:solidFill>
            <a:srgbClr val="E8F4F6"/>
          </a:solidFill>
          <a:ln w="12700">
            <a:solidFill>
              <a:srgbClr val="2D2D2D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8229600" cy="1810512"/>
          </a:xfrm>
          <a:prstGeom prst="rect">
            <a:avLst/>
          </a:prstGeom>
          <a:solidFill>
            <a:srgbClr val="E8F4F6"/>
          </a:solidFill>
          <a:ln w="12700">
            <a:solidFill>
              <a:srgbClr val="E8F4F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4400" y="2121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871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complet (Docker Compose + dashboards + scripts) :</a:t>
            </a:r>
            <a:r>
              <a:rPr lang="en-US" sz="11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/erythix4/</a:t>
            </a:r>
            <a:r>
              <a:rPr lang="en-US" sz="11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aiobs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-lab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8950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hlinkClick r:id="rId3"/>
              </a:rPr>
              <a:t>https://github.com/erythix4/ml-security-monitoring</a:t>
            </a:r>
            <a:r>
              <a:rPr lang="en-US" sz="1100" dirty="0"/>
              <a:t> </a:t>
            </a:r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 :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phoenix.arize.com - Self-hosted, MIT License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36941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: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victoriametrics.com - Training partner France/Benelux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sdesseaux@erythix.tech</a:t>
            </a:r>
            <a:r>
              <a:rPr lang="en-US" sz="12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linkedin.com/in/</a:t>
            </a:r>
            <a:r>
              <a:rPr lang="en-US" sz="1200" dirty="0" err="1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sdesseaux</a:t>
            </a:r>
            <a:r>
              <a:rPr lang="en-US" sz="1200" dirty="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n-US" sz="1200" err="1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erythix</a:t>
            </a:r>
            <a:r>
              <a:rPr lang="en-US" sz="1200">
                <a:solidFill>
                  <a:srgbClr val="2D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371600" y="4407408"/>
            <a:ext cx="6400800" cy="530352"/>
          </a:xfrm>
          <a:prstGeom prst="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371600" y="44074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 "Sécuriser ses LLM en production" - 1er avril 2026 · Lille · FIC · Live YouTube/LinkedIn</a:t>
            </a:r>
            <a:endParaRPr lang="en-US" sz="1000" dirty="0"/>
          </a:p>
        </p:txBody>
      </p:sp>
      <p:pic>
        <p:nvPicPr>
          <p:cNvPr id="50" name="QR_resources"/>
          <p:cNvPicPr/>
          <p:nvPr/>
        </p:nvPicPr>
        <p:blipFill>
          <a:blip r:embed="rId4"/>
          <a:stretch>
            <a:fillRect/>
          </a:stretch>
        </p:blipFill>
        <p:spPr>
          <a:xfrm>
            <a:off x="6858000" y="1950000"/>
            <a:ext cx="1829000" cy="1829000"/>
          </a:xfrm>
          <a:prstGeom prst="rect">
            <a:avLst/>
          </a:prstGeom>
          <a:noFill/>
        </p:spPr>
      </p:pic>
      <p:sp>
        <p:nvSpPr>
          <p:cNvPr id="51" name="QR_label"/>
          <p:cNvSpPr/>
          <p:nvPr/>
        </p:nvSpPr>
        <p:spPr>
          <a:xfrm>
            <a:off x="6758000" y="3810000"/>
            <a:ext cx="203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</a:rPr>
              <a:t>github.com/E4Itraining/AI-monitoring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3775</Words>
  <Application>Microsoft Macintosh PowerPoint</Application>
  <PresentationFormat>Affichage à l'écran (16:9)</PresentationFormat>
  <Paragraphs>521</Paragraphs>
  <Slides>21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Observabilité LLM en production — v4</dc:title>
  <dc:subject>PptxGenJS Presentation</dc:subject>
  <dc:creator>Samuel Desseaux - Erythix</dc:creator>
  <cp:lastModifiedBy>samuel desseaux</cp:lastModifiedBy>
  <cp:revision>17</cp:revision>
  <dcterms:created xsi:type="dcterms:W3CDTF">2026-03-07T15:47:37Z</dcterms:created>
  <dcterms:modified xsi:type="dcterms:W3CDTF">2026-03-13T13:09:23Z</dcterms:modified>
</cp:coreProperties>
</file>